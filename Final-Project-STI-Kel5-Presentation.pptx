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68680" y="1783080"/>
            <a:ext cx="106070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5000" b="1">
                <a:solidFill>
                  <a:srgbClr val="1EA7DD"/>
                </a:solidFill>
                <a:latin typeface="Segoe UI Black"/>
              </a:rPr>
              <a:t>FINAL PROJECT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300" b="1">
                <a:solidFill>
                  <a:srgbClr val="123047"/>
                </a:solidFill>
                <a:latin typeface="Segoe UI Black"/>
              </a:rPr>
              <a:t>SISTEM &amp; TEKNOLOGI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300" b="1">
                <a:solidFill>
                  <a:srgbClr val="123047"/>
                </a:solidFill>
                <a:latin typeface="Segoe UI Black"/>
              </a:rPr>
              <a:t>INFORMASI</a:t>
            </a:r>
          </a:p>
        </p:txBody>
      </p:sp>
      <p:sp>
        <p:nvSpPr>
          <p:cNvPr id="4" name="Rectangle 3"/>
          <p:cNvSpPr/>
          <p:nvPr/>
        </p:nvSpPr>
        <p:spPr>
          <a:xfrm>
            <a:off x="886968" y="4114800"/>
            <a:ext cx="777240" cy="27432"/>
          </a:xfrm>
          <a:prstGeom prst="rect">
            <a:avLst/>
          </a:prstGeom>
          <a:solidFill>
            <a:srgbClr val="1EA7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783080" y="3950208"/>
            <a:ext cx="8778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E2C33"/>
                </a:solidFill>
                <a:latin typeface="Segoe UI Semibold"/>
              </a:rPr>
              <a:t>Analisis Data &amp; Dashboard Pemantauan dengan Pendekatan CRISP-DM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86968" y="443484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8A98A0"/>
                </a:solidFill>
                <a:latin typeface="Segoe UI Semibold"/>
              </a:rPr>
              <a:t>MAGISTER MANAJEMEN TEKNOLOGI · INSTITUT TEKNOLOGI SEPULUH NOPEMBER</a:t>
            </a:r>
          </a:p>
        </p:txBody>
      </p:sp>
      <p:sp>
        <p:nvSpPr>
          <p:cNvPr id="7" name="Snip Single Corner Rectangle 6"/>
          <p:cNvSpPr/>
          <p:nvPr/>
        </p:nvSpPr>
        <p:spPr>
          <a:xfrm>
            <a:off x="868680" y="5074920"/>
            <a:ext cx="6675120" cy="1143000"/>
          </a:xfrm>
          <a:prstGeom prst="snip1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D9E2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5193792"/>
            <a:ext cx="6309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1EA7DD"/>
                </a:solidFill>
                <a:latin typeface="Segoe UI Semibold"/>
              </a:rPr>
              <a:t>KELOMPOK 5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123047"/>
                </a:solidFill>
                <a:latin typeface="Segoe UI Semibold"/>
              </a:rPr>
              <a:t>Moch Chesa Nur Hidayat  ·  Misbahul Munir Dwi Julianto  ·  Eko Yunianto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0">
                <a:solidFill>
                  <a:srgbClr val="8A98A0"/>
                </a:solidFill>
                <a:latin typeface="Segoe UI"/>
              </a:rPr>
              <a:t>Dosen Pengampu: Dr. Agus Budi Raharjo     |     GitHub: sianida26, Misbahulmunir26</a:t>
            </a:r>
          </a:p>
        </p:txBody>
      </p:sp>
      <p:sp>
        <p:nvSpPr>
          <p:cNvPr id="9" name="Snip Single Corner Rectangle 8"/>
          <p:cNvSpPr/>
          <p:nvPr/>
        </p:nvSpPr>
        <p:spPr>
          <a:xfrm>
            <a:off x="8732520" y="5074920"/>
            <a:ext cx="2606040" cy="1143000"/>
          </a:xfrm>
          <a:prstGeom prst="snip1Rect">
            <a:avLst>
              <a:gd name="adj" fmla="val 16000"/>
            </a:avLst>
          </a:prstGeom>
          <a:solidFill>
            <a:srgbClr val="F3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15400" y="5285232"/>
            <a:ext cx="2286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EA7DD"/>
                </a:solidFill>
                <a:latin typeface="Segoe UI Black"/>
              </a:rPr>
              <a:t>23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23047"/>
                </a:solidFill>
                <a:latin typeface="Segoe UI Semibold"/>
              </a:rPr>
              <a:t>Juni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66928" y="475488"/>
            <a:ext cx="146304" cy="603504"/>
          </a:xfrm>
          <a:prstGeom prst="rect">
            <a:avLst/>
          </a:prstGeom>
          <a:solidFill>
            <a:srgbClr val="1EA7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420624"/>
            <a:ext cx="10058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A7DD"/>
                </a:solidFill>
                <a:latin typeface="Segoe UI Semibold"/>
              </a:rPr>
              <a:t>OUTLINE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40080"/>
            <a:ext cx="106070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23047"/>
                </a:solidFill>
                <a:latin typeface="Segoe UI Black"/>
              </a:rPr>
              <a:t>AGENDA </a:t>
            </a:r>
            <a:r>
              <a:rPr sz="2600" b="1">
                <a:solidFill>
                  <a:srgbClr val="1EA7DD"/>
                </a:solidFill>
                <a:latin typeface="Segoe UI Black"/>
              </a:rPr>
              <a:t>PRESENTASI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73368"/>
            <a:ext cx="6400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A98A0"/>
                </a:solidFill>
                <a:latin typeface="Segoe UI"/>
              </a:rPr>
              <a:t>final project sti · kelompok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355080"/>
            <a:ext cx="822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A7DD"/>
                </a:solidFill>
                <a:latin typeface="Segoe UI Semibold"/>
              </a:rPr>
              <a:t>02</a:t>
            </a:r>
          </a:p>
        </p:txBody>
      </p:sp>
      <p:sp>
        <p:nvSpPr>
          <p:cNvPr id="8" name="Snip Single Corner Rectangle 7"/>
          <p:cNvSpPr/>
          <p:nvPr/>
        </p:nvSpPr>
        <p:spPr>
          <a:xfrm>
            <a:off x="822960" y="1517904"/>
            <a:ext cx="914400" cy="731520"/>
          </a:xfrm>
          <a:prstGeom prst="snip1Rect">
            <a:avLst>
              <a:gd name="adj" fmla="val 18000"/>
            </a:avLst>
          </a:prstGeom>
          <a:solidFill>
            <a:srgbClr val="123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536192"/>
            <a:ext cx="91440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EA7DD"/>
                </a:solidFill>
                <a:latin typeface="Segoe UI Black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1609344"/>
            <a:ext cx="9509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50" b="1">
                <a:solidFill>
                  <a:srgbClr val="123047"/>
                </a:solidFill>
                <a:latin typeface="Segoe UI Semibold"/>
              </a:rPr>
              <a:t>Latar Belakang &amp; Tujuan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8A98A0"/>
                </a:solidFill>
                <a:latin typeface="Segoe UI"/>
              </a:rPr>
              <a:t>Konteks studi kasus dan pertanyaan bisnis yang ingin dijawab</a:t>
            </a:r>
          </a:p>
        </p:txBody>
      </p:sp>
      <p:sp>
        <p:nvSpPr>
          <p:cNvPr id="11" name="Snip Single Corner Rectangle 10"/>
          <p:cNvSpPr/>
          <p:nvPr/>
        </p:nvSpPr>
        <p:spPr>
          <a:xfrm>
            <a:off x="822960" y="2322576"/>
            <a:ext cx="914400" cy="731520"/>
          </a:xfrm>
          <a:prstGeom prst="snip1Rect">
            <a:avLst>
              <a:gd name="adj" fmla="val 18000"/>
            </a:avLst>
          </a:prstGeom>
          <a:solidFill>
            <a:srgbClr val="123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340864"/>
            <a:ext cx="91440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EA7DD"/>
                </a:solidFill>
                <a:latin typeface="Segoe UI Black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20240" y="2414016"/>
            <a:ext cx="9509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50" b="1">
                <a:solidFill>
                  <a:srgbClr val="123047"/>
                </a:solidFill>
                <a:latin typeface="Segoe UI Semibold"/>
              </a:rPr>
              <a:t>Metodologi CRISP-DM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8A98A0"/>
                </a:solidFill>
                <a:latin typeface="Segoe UI"/>
              </a:rPr>
              <a:t>Kerangka kerja pengolahan data dari awal hingga akhir</a:t>
            </a:r>
          </a:p>
        </p:txBody>
      </p:sp>
      <p:sp>
        <p:nvSpPr>
          <p:cNvPr id="14" name="Snip Single Corner Rectangle 13"/>
          <p:cNvSpPr/>
          <p:nvPr/>
        </p:nvSpPr>
        <p:spPr>
          <a:xfrm>
            <a:off x="822960" y="3127248"/>
            <a:ext cx="914400" cy="731520"/>
          </a:xfrm>
          <a:prstGeom prst="snip1Rect">
            <a:avLst>
              <a:gd name="adj" fmla="val 18000"/>
            </a:avLst>
          </a:prstGeom>
          <a:solidFill>
            <a:srgbClr val="123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3145536"/>
            <a:ext cx="91440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EA7DD"/>
                </a:solidFill>
                <a:latin typeface="Segoe UI Black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3218688"/>
            <a:ext cx="9509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50" b="1">
                <a:solidFill>
                  <a:srgbClr val="123047"/>
                </a:solidFill>
                <a:latin typeface="Segoe UI Semibold"/>
              </a:rPr>
              <a:t>Manajemen Proyek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8A98A0"/>
                </a:solidFill>
                <a:latin typeface="Segoe UI"/>
              </a:rPr>
              <a:t>Pelacakan pekerjaan kelompok lewat GitHub Projects</a:t>
            </a:r>
          </a:p>
        </p:txBody>
      </p:sp>
      <p:sp>
        <p:nvSpPr>
          <p:cNvPr id="17" name="Snip Single Corner Rectangle 16"/>
          <p:cNvSpPr/>
          <p:nvPr/>
        </p:nvSpPr>
        <p:spPr>
          <a:xfrm>
            <a:off x="822960" y="3931920"/>
            <a:ext cx="914400" cy="731520"/>
          </a:xfrm>
          <a:prstGeom prst="snip1Rect">
            <a:avLst>
              <a:gd name="adj" fmla="val 18000"/>
            </a:avLst>
          </a:prstGeom>
          <a:solidFill>
            <a:srgbClr val="123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3950207"/>
            <a:ext cx="91440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EA7DD"/>
                </a:solidFill>
                <a:latin typeface="Segoe UI Black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20240" y="4023359"/>
            <a:ext cx="9509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50" b="1">
                <a:solidFill>
                  <a:srgbClr val="123047"/>
                </a:solidFill>
                <a:latin typeface="Segoe UI Semibold"/>
              </a:rPr>
              <a:t>Studi Kasus: Inventory CGS-1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8A98A0"/>
                </a:solidFill>
                <a:latin typeface="Segoe UI"/>
              </a:rPr>
              <a:t>Pemantauan kesiapan dan kalibrasi instrumen</a:t>
            </a:r>
          </a:p>
        </p:txBody>
      </p:sp>
      <p:sp>
        <p:nvSpPr>
          <p:cNvPr id="20" name="Snip Single Corner Rectangle 19"/>
          <p:cNvSpPr/>
          <p:nvPr/>
        </p:nvSpPr>
        <p:spPr>
          <a:xfrm>
            <a:off x="822960" y="4736592"/>
            <a:ext cx="914400" cy="731520"/>
          </a:xfrm>
          <a:prstGeom prst="snip1Rect">
            <a:avLst>
              <a:gd name="adj" fmla="val 18000"/>
            </a:avLst>
          </a:prstGeom>
          <a:solidFill>
            <a:srgbClr val="123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4754879"/>
            <a:ext cx="91440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EA7DD"/>
                </a:solidFill>
                <a:latin typeface="Segoe UI Black"/>
              </a:rPr>
              <a:t>05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20240" y="4828031"/>
            <a:ext cx="9509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50" b="1">
                <a:solidFill>
                  <a:srgbClr val="123047"/>
                </a:solidFill>
                <a:latin typeface="Segoe UI Semibold"/>
              </a:rPr>
              <a:t>Kesimpulan &amp; Rekomendasi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8A98A0"/>
                </a:solidFill>
                <a:latin typeface="Segoe UI"/>
              </a:rPr>
              <a:t>Temuan utama dan langkah tindak lanjut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66928" y="475488"/>
            <a:ext cx="146304" cy="603504"/>
          </a:xfrm>
          <a:prstGeom prst="rect">
            <a:avLst/>
          </a:prstGeom>
          <a:solidFill>
            <a:srgbClr val="1EA7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420624"/>
            <a:ext cx="10058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A7DD"/>
                </a:solidFill>
                <a:latin typeface="Segoe UI Semibold"/>
              </a:rPr>
              <a:t>PENDAHULUAN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40080"/>
            <a:ext cx="106070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23047"/>
                </a:solidFill>
                <a:latin typeface="Segoe UI Black"/>
              </a:rPr>
              <a:t>LATAR BELAKANG &amp; </a:t>
            </a:r>
            <a:r>
              <a:rPr sz="2600" b="1">
                <a:solidFill>
                  <a:srgbClr val="1EA7DD"/>
                </a:solidFill>
                <a:latin typeface="Segoe UI Black"/>
              </a:rPr>
              <a:t>TUJUAN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73368"/>
            <a:ext cx="6400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A98A0"/>
                </a:solidFill>
                <a:latin typeface="Segoe UI"/>
              </a:rPr>
              <a:t>final project sti · kelompok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355080"/>
            <a:ext cx="822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A7DD"/>
                </a:solidFill>
                <a:latin typeface="Segoe UI Semibold"/>
              </a:rPr>
              <a:t>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481328"/>
            <a:ext cx="106070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E2C33"/>
                </a:solidFill>
                <a:latin typeface="Segoe UI"/>
              </a:rPr>
              <a:t>Kelompok mengambil </a:t>
            </a:r>
            <a:r>
              <a:rPr sz="1400" b="1">
                <a:solidFill>
                  <a:srgbClr val="1EA7DD"/>
                </a:solidFill>
                <a:latin typeface="Segoe UI Semibold"/>
              </a:rPr>
              <a:t>studi kasus nyata</a:t>
            </a:r>
            <a:r>
              <a:rPr sz="1400" b="0">
                <a:solidFill>
                  <a:srgbClr val="1E2C33"/>
                </a:solidFill>
                <a:latin typeface="Segoe UI"/>
              </a:rPr>
              <a:t> dari lingkungan kerja anggota, lalu mengolah datanya secara terstruktur mengikuti CRISP-DM hingga menghasilkan dashboard pemantauan.</a:t>
            </a:r>
          </a:p>
        </p:txBody>
      </p:sp>
      <p:sp>
        <p:nvSpPr>
          <p:cNvPr id="9" name="Snip Single Corner Rectangle 8"/>
          <p:cNvSpPr/>
          <p:nvPr/>
        </p:nvSpPr>
        <p:spPr>
          <a:xfrm>
            <a:off x="822960" y="2286000"/>
            <a:ext cx="10543032" cy="3749039"/>
          </a:xfrm>
          <a:prstGeom prst="snip1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9E2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2651760"/>
            <a:ext cx="548640" cy="82296"/>
          </a:xfrm>
          <a:prstGeom prst="rect">
            <a:avLst/>
          </a:prstGeom>
          <a:solidFill>
            <a:srgbClr val="1EA7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2834640"/>
            <a:ext cx="9875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A7DD"/>
                </a:solidFill>
                <a:latin typeface="Segoe UI Semibold"/>
              </a:rPr>
              <a:t>STUDI KASUS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3090672"/>
            <a:ext cx="9875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23047"/>
                </a:solidFill>
                <a:latin typeface="Segoe UI Black"/>
              </a:rPr>
              <a:t>Inventory Instrumen CGS-1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77639"/>
            <a:ext cx="996696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150">
                <a:solidFill>
                  <a:srgbClr val="1EA7DD"/>
                </a:solidFill>
                <a:latin typeface="Segoe UI"/>
              </a:rPr>
              <a:t>▪  </a:t>
            </a:r>
            <a:r>
              <a:rPr sz="1350">
                <a:solidFill>
                  <a:srgbClr val="1E2C33"/>
                </a:solidFill>
                <a:latin typeface="Segoe UI"/>
              </a:rPr>
              <a:t>Custody Gas Station (CGS-1) mengoperasikan banyak instrumen lapangan (transmitter, valve, actuator) yang menopang keandalan, keselamatan, dan kepatuhan operasi.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150">
                <a:solidFill>
                  <a:srgbClr val="1EA7DD"/>
                </a:solidFill>
                <a:latin typeface="Segoe UI"/>
              </a:rPr>
              <a:t>▪  </a:t>
            </a:r>
            <a:r>
              <a:rPr sz="1350">
                <a:solidFill>
                  <a:srgbClr val="1E2C33"/>
                </a:solidFill>
                <a:latin typeface="Segoe UI"/>
              </a:rPr>
              <a:t>Analisis menyoroti status aset, ketergantungan vendor, dan kelengkapan data kalibrasi.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150">
                <a:solidFill>
                  <a:srgbClr val="1EA7DD"/>
                </a:solidFill>
                <a:latin typeface="Segoe UI"/>
              </a:rPr>
              <a:t>▪  </a:t>
            </a:r>
            <a:r>
              <a:rPr sz="1350">
                <a:solidFill>
                  <a:srgbClr val="1E2C33"/>
                </a:solidFill>
                <a:latin typeface="Segoe UI"/>
              </a:rPr>
              <a:t>Hasil akhir disajikan sebagai dashboard pemantauan Looker Studio.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66928" y="475488"/>
            <a:ext cx="146304" cy="603504"/>
          </a:xfrm>
          <a:prstGeom prst="rect">
            <a:avLst/>
          </a:prstGeom>
          <a:solidFill>
            <a:srgbClr val="1EA7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420624"/>
            <a:ext cx="10058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A7DD"/>
                </a:solidFill>
                <a:latin typeface="Segoe UI Semibold"/>
              </a:rPr>
              <a:t>METODOLOGI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40080"/>
            <a:ext cx="106070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23047"/>
                </a:solidFill>
                <a:latin typeface="Segoe UI Black"/>
              </a:rPr>
              <a:t>KERANGKA KERJA </a:t>
            </a:r>
            <a:r>
              <a:rPr sz="2600" b="1">
                <a:solidFill>
                  <a:srgbClr val="1EA7DD"/>
                </a:solidFill>
                <a:latin typeface="Segoe UI Black"/>
              </a:rPr>
              <a:t>CRISP-DM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73368"/>
            <a:ext cx="6400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A98A0"/>
                </a:solidFill>
                <a:latin typeface="Segoe UI"/>
              </a:rPr>
              <a:t>final project sti · kelompok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355080"/>
            <a:ext cx="822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A7DD"/>
                </a:solidFill>
                <a:latin typeface="Segoe UI Semibold"/>
              </a:rP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481328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A98A0"/>
                </a:solidFill>
                <a:latin typeface="Segoe UI"/>
              </a:rPr>
              <a:t>Studi kasus ini dikerjakan melalui enam fase CRISP-DM secara berurutan, mulai dari pemahaman bisnis hingga penyajian dashboard.</a:t>
            </a:r>
          </a:p>
        </p:txBody>
      </p:sp>
      <p:sp>
        <p:nvSpPr>
          <p:cNvPr id="9" name="Snip Single Corner Rectangle 8"/>
          <p:cNvSpPr/>
          <p:nvPr/>
        </p:nvSpPr>
        <p:spPr>
          <a:xfrm>
            <a:off x="822960" y="2286000"/>
            <a:ext cx="1700784" cy="2331720"/>
          </a:xfrm>
          <a:prstGeom prst="snip1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9E2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Snip Single Corner Rectangle 9"/>
          <p:cNvSpPr/>
          <p:nvPr/>
        </p:nvSpPr>
        <p:spPr>
          <a:xfrm>
            <a:off x="1362456" y="2560320"/>
            <a:ext cx="621792" cy="621792"/>
          </a:xfrm>
          <a:prstGeom prst="snip1Rect">
            <a:avLst>
              <a:gd name="adj" fmla="val 22000"/>
            </a:avLst>
          </a:prstGeom>
          <a:solidFill>
            <a:srgbClr val="123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62456" y="2569464"/>
            <a:ext cx="621792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EA7DD"/>
                </a:solidFill>
                <a:latin typeface="Segoe UI Black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310128"/>
            <a:ext cx="1517904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23047"/>
                </a:solidFill>
                <a:latin typeface="Segoe UI Semibold"/>
              </a:rPr>
              <a:t>Business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23047"/>
                </a:solidFill>
                <a:latin typeface="Segoe UI Semibold"/>
              </a:rPr>
              <a:t>Understanding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4096512"/>
            <a:ext cx="148132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8A98A0"/>
                </a:solidFill>
                <a:latin typeface="Segoe UI"/>
              </a:rPr>
              <a:t>Tujuan &amp; pertanyaan bisnis</a:t>
            </a:r>
          </a:p>
        </p:txBody>
      </p:sp>
      <p:sp>
        <p:nvSpPr>
          <p:cNvPr id="14" name="Chevron 13"/>
          <p:cNvSpPr/>
          <p:nvPr/>
        </p:nvSpPr>
        <p:spPr>
          <a:xfrm>
            <a:off x="2532888" y="3310128"/>
            <a:ext cx="118872" cy="109728"/>
          </a:xfrm>
          <a:prstGeom prst="chevron">
            <a:avLst/>
          </a:prstGeom>
          <a:solidFill>
            <a:srgbClr val="1EA7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Snip Single Corner Rectangle 14"/>
          <p:cNvSpPr/>
          <p:nvPr/>
        </p:nvSpPr>
        <p:spPr>
          <a:xfrm>
            <a:off x="2642616" y="2286000"/>
            <a:ext cx="1700784" cy="2331720"/>
          </a:xfrm>
          <a:prstGeom prst="snip1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9E2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Snip Single Corner Rectangle 15"/>
          <p:cNvSpPr/>
          <p:nvPr/>
        </p:nvSpPr>
        <p:spPr>
          <a:xfrm>
            <a:off x="3182112" y="2560320"/>
            <a:ext cx="621792" cy="621792"/>
          </a:xfrm>
          <a:prstGeom prst="snip1Rect">
            <a:avLst>
              <a:gd name="adj" fmla="val 22000"/>
            </a:avLst>
          </a:prstGeom>
          <a:solidFill>
            <a:srgbClr val="123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182112" y="2569464"/>
            <a:ext cx="621792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EA7DD"/>
                </a:solidFill>
                <a:latin typeface="Segoe UI Black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34056" y="3310128"/>
            <a:ext cx="1517904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23047"/>
                </a:solidFill>
                <a:latin typeface="Segoe UI Semibold"/>
              </a:rPr>
              <a:t>Data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23047"/>
                </a:solidFill>
                <a:latin typeface="Segoe UI Semibold"/>
              </a:rPr>
              <a:t>Understanding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52344" y="4096512"/>
            <a:ext cx="148132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8A98A0"/>
                </a:solidFill>
                <a:latin typeface="Segoe UI"/>
              </a:rPr>
              <a:t>Memuat data, menilai kualitas</a:t>
            </a:r>
          </a:p>
        </p:txBody>
      </p:sp>
      <p:sp>
        <p:nvSpPr>
          <p:cNvPr id="20" name="Chevron 19"/>
          <p:cNvSpPr/>
          <p:nvPr/>
        </p:nvSpPr>
        <p:spPr>
          <a:xfrm>
            <a:off x="4352544" y="3310128"/>
            <a:ext cx="118872" cy="109728"/>
          </a:xfrm>
          <a:prstGeom prst="chevron">
            <a:avLst/>
          </a:prstGeom>
          <a:solidFill>
            <a:srgbClr val="1EA7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Snip Single Corner Rectangle 20"/>
          <p:cNvSpPr/>
          <p:nvPr/>
        </p:nvSpPr>
        <p:spPr>
          <a:xfrm>
            <a:off x="4462272" y="2286000"/>
            <a:ext cx="1700784" cy="2331720"/>
          </a:xfrm>
          <a:prstGeom prst="snip1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9E2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Snip Single Corner Rectangle 21"/>
          <p:cNvSpPr/>
          <p:nvPr/>
        </p:nvSpPr>
        <p:spPr>
          <a:xfrm>
            <a:off x="5001768" y="2560320"/>
            <a:ext cx="621792" cy="621792"/>
          </a:xfrm>
          <a:prstGeom prst="snip1Rect">
            <a:avLst>
              <a:gd name="adj" fmla="val 22000"/>
            </a:avLst>
          </a:prstGeom>
          <a:solidFill>
            <a:srgbClr val="123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01768" y="2569464"/>
            <a:ext cx="621792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EA7DD"/>
                </a:solidFill>
                <a:latin typeface="Segoe UI Black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53712" y="3310128"/>
            <a:ext cx="1517904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23047"/>
                </a:solidFill>
                <a:latin typeface="Segoe UI Semibold"/>
              </a:rPr>
              <a:t>Data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23047"/>
                </a:solidFill>
                <a:latin typeface="Segoe UI Semibold"/>
              </a:rPr>
              <a:t>Preparation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0" y="4096512"/>
            <a:ext cx="148132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8A98A0"/>
                </a:solidFill>
                <a:latin typeface="Segoe UI"/>
              </a:rPr>
              <a:t>Pembersihan &amp; kolom turunan</a:t>
            </a:r>
          </a:p>
        </p:txBody>
      </p:sp>
      <p:sp>
        <p:nvSpPr>
          <p:cNvPr id="26" name="Chevron 25"/>
          <p:cNvSpPr/>
          <p:nvPr/>
        </p:nvSpPr>
        <p:spPr>
          <a:xfrm>
            <a:off x="6172200" y="3310128"/>
            <a:ext cx="118872" cy="109728"/>
          </a:xfrm>
          <a:prstGeom prst="chevron">
            <a:avLst/>
          </a:prstGeom>
          <a:solidFill>
            <a:srgbClr val="1EA7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Snip Single Corner Rectangle 26"/>
          <p:cNvSpPr/>
          <p:nvPr/>
        </p:nvSpPr>
        <p:spPr>
          <a:xfrm>
            <a:off x="6281928" y="2286000"/>
            <a:ext cx="1700784" cy="2331720"/>
          </a:xfrm>
          <a:prstGeom prst="snip1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9E2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Snip Single Corner Rectangle 27"/>
          <p:cNvSpPr/>
          <p:nvPr/>
        </p:nvSpPr>
        <p:spPr>
          <a:xfrm>
            <a:off x="6821424" y="2560320"/>
            <a:ext cx="621792" cy="621792"/>
          </a:xfrm>
          <a:prstGeom prst="snip1Rect">
            <a:avLst>
              <a:gd name="adj" fmla="val 22000"/>
            </a:avLst>
          </a:prstGeom>
          <a:solidFill>
            <a:srgbClr val="123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21424" y="2569464"/>
            <a:ext cx="621792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EA7DD"/>
                </a:solidFill>
                <a:latin typeface="Segoe UI Black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73368" y="3310128"/>
            <a:ext cx="1517904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23047"/>
                </a:solidFill>
                <a:latin typeface="Segoe UI Semibold"/>
              </a:rPr>
              <a:t>Modeling /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23047"/>
                </a:solidFill>
                <a:latin typeface="Segoe UI Semibold"/>
              </a:rPr>
              <a:t>Analisis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91656" y="4096512"/>
            <a:ext cx="148132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8A98A0"/>
                </a:solidFill>
                <a:latin typeface="Segoe UI"/>
              </a:rPr>
              <a:t>Agregasi &amp; visualisasi</a:t>
            </a:r>
          </a:p>
        </p:txBody>
      </p:sp>
      <p:sp>
        <p:nvSpPr>
          <p:cNvPr id="32" name="Chevron 31"/>
          <p:cNvSpPr/>
          <p:nvPr/>
        </p:nvSpPr>
        <p:spPr>
          <a:xfrm>
            <a:off x="7991856" y="3310128"/>
            <a:ext cx="118872" cy="109728"/>
          </a:xfrm>
          <a:prstGeom prst="chevron">
            <a:avLst/>
          </a:prstGeom>
          <a:solidFill>
            <a:srgbClr val="1EA7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Snip Single Corner Rectangle 32"/>
          <p:cNvSpPr/>
          <p:nvPr/>
        </p:nvSpPr>
        <p:spPr>
          <a:xfrm>
            <a:off x="8101584" y="2286000"/>
            <a:ext cx="1700784" cy="2331720"/>
          </a:xfrm>
          <a:prstGeom prst="snip1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9E2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Snip Single Corner Rectangle 33"/>
          <p:cNvSpPr/>
          <p:nvPr/>
        </p:nvSpPr>
        <p:spPr>
          <a:xfrm>
            <a:off x="8641080" y="2560320"/>
            <a:ext cx="621792" cy="621792"/>
          </a:xfrm>
          <a:prstGeom prst="snip1Rect">
            <a:avLst>
              <a:gd name="adj" fmla="val 22000"/>
            </a:avLst>
          </a:prstGeom>
          <a:solidFill>
            <a:srgbClr val="123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641080" y="2569464"/>
            <a:ext cx="621792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EA7DD"/>
                </a:solidFill>
                <a:latin typeface="Segoe UI Black"/>
              </a:rPr>
              <a:t>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193024" y="3310128"/>
            <a:ext cx="1517904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23047"/>
                </a:solidFill>
                <a:latin typeface="Segoe UI Semibold"/>
              </a:rPr>
              <a:t>Evaluation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11312" y="4096512"/>
            <a:ext cx="148132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8A98A0"/>
                </a:solidFill>
                <a:latin typeface="Segoe UI"/>
              </a:rPr>
              <a:t>Temuan &amp; rekomendasi</a:t>
            </a:r>
          </a:p>
        </p:txBody>
      </p:sp>
      <p:sp>
        <p:nvSpPr>
          <p:cNvPr id="38" name="Chevron 37"/>
          <p:cNvSpPr/>
          <p:nvPr/>
        </p:nvSpPr>
        <p:spPr>
          <a:xfrm>
            <a:off x="9811512" y="3310128"/>
            <a:ext cx="118872" cy="109728"/>
          </a:xfrm>
          <a:prstGeom prst="chevron">
            <a:avLst/>
          </a:prstGeom>
          <a:solidFill>
            <a:srgbClr val="1EA7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Snip Single Corner Rectangle 38"/>
          <p:cNvSpPr/>
          <p:nvPr/>
        </p:nvSpPr>
        <p:spPr>
          <a:xfrm>
            <a:off x="9921240" y="2286000"/>
            <a:ext cx="1700784" cy="2331720"/>
          </a:xfrm>
          <a:prstGeom prst="snip1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9E2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Snip Single Corner Rectangle 39"/>
          <p:cNvSpPr/>
          <p:nvPr/>
        </p:nvSpPr>
        <p:spPr>
          <a:xfrm>
            <a:off x="10460736" y="2560320"/>
            <a:ext cx="621792" cy="621792"/>
          </a:xfrm>
          <a:prstGeom prst="snip1Rect">
            <a:avLst>
              <a:gd name="adj" fmla="val 22000"/>
            </a:avLst>
          </a:prstGeom>
          <a:solidFill>
            <a:srgbClr val="123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460736" y="2569464"/>
            <a:ext cx="621792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EA7DD"/>
                </a:solidFill>
                <a:latin typeface="Segoe UI Black"/>
              </a:rPr>
              <a:t>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012680" y="3310128"/>
            <a:ext cx="1517904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23047"/>
                </a:solidFill>
                <a:latin typeface="Segoe UI Semibold"/>
              </a:rPr>
              <a:t>Deployment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030968" y="4096512"/>
            <a:ext cx="148132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8A98A0"/>
                </a:solidFill>
                <a:latin typeface="Segoe UI"/>
              </a:rPr>
              <a:t>Dashboard pemantauan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22960" y="489204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1">
                <a:solidFill>
                  <a:srgbClr val="8A98A0"/>
                </a:solidFill>
                <a:latin typeface="Segoe UI"/>
              </a:rPr>
              <a:t>Dengan kerangka ini, analisis selalu berangkat dari pertanyaan bisnis yang jelas dan berakhir pada dashboard yang siap dipantau, bukan sekadar kumpulan grafik.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66928" y="475488"/>
            <a:ext cx="146304" cy="603504"/>
          </a:xfrm>
          <a:prstGeom prst="rect">
            <a:avLst/>
          </a:prstGeom>
          <a:solidFill>
            <a:srgbClr val="1EA7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420624"/>
            <a:ext cx="10058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A7DD"/>
                </a:solidFill>
                <a:latin typeface="Segoe UI Semibold"/>
              </a:rPr>
              <a:t>MANAJEMEN PROYEK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40080"/>
            <a:ext cx="106070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23047"/>
                </a:solidFill>
                <a:latin typeface="Segoe UI Black"/>
              </a:rPr>
              <a:t>PELACAKAN PEKERJAAN </a:t>
            </a:r>
            <a:r>
              <a:rPr sz="2600" b="1">
                <a:solidFill>
                  <a:srgbClr val="1EA7DD"/>
                </a:solidFill>
                <a:latin typeface="Segoe UI Black"/>
              </a:rPr>
              <a:t>GITHUB PROJECTS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73368"/>
            <a:ext cx="6400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A98A0"/>
                </a:solidFill>
                <a:latin typeface="Segoe UI"/>
              </a:rPr>
              <a:t>final project sti · kelompok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355080"/>
            <a:ext cx="822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A7DD"/>
                </a:solidFill>
                <a:latin typeface="Segoe UI Semibold"/>
              </a:rPr>
              <a:t>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481328"/>
            <a:ext cx="106070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E2C33"/>
                </a:solidFill>
                <a:latin typeface="Segoe UI"/>
              </a:rPr>
              <a:t>Seluruh pekerjaan kelompok dikelola lewat </a:t>
            </a:r>
            <a:r>
              <a:rPr sz="1400" b="1">
                <a:solidFill>
                  <a:srgbClr val="1EA7DD"/>
                </a:solidFill>
                <a:latin typeface="Segoe UI Semibold"/>
              </a:rPr>
              <a:t>board kanban GitHub Projects</a:t>
            </a:r>
            <a:r>
              <a:rPr sz="1400" b="0">
                <a:solidFill>
                  <a:srgbClr val="1E2C33"/>
                </a:solidFill>
                <a:latin typeface="Segoe UI"/>
              </a:rPr>
              <a:t>. Setiap fase CRISP-DM dipecah menjadi kartu tugas, lalu dilacak perpindahannya dari </a:t>
            </a:r>
            <a:r>
              <a:rPr sz="1400" b="1">
                <a:solidFill>
                  <a:srgbClr val="123047"/>
                </a:solidFill>
                <a:latin typeface="Segoe UI Semibold"/>
              </a:rPr>
              <a:t>Todo → In Progress → Done</a:t>
            </a:r>
            <a:r>
              <a:rPr sz="1400" b="0">
                <a:solidFill>
                  <a:srgbClr val="1E2C33"/>
                </a:solidFill>
                <a:latin typeface="Segoe UI"/>
              </a:rPr>
              <a:t>.</a:t>
            </a:r>
          </a:p>
        </p:txBody>
      </p:sp>
      <p:sp>
        <p:nvSpPr>
          <p:cNvPr id="9" name="Snip Single Corner Rectangle 8"/>
          <p:cNvSpPr/>
          <p:nvPr/>
        </p:nvSpPr>
        <p:spPr>
          <a:xfrm>
            <a:off x="822960" y="2468880"/>
            <a:ext cx="3456432" cy="1554480"/>
          </a:xfrm>
          <a:prstGeom prst="snip1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9E2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97280" y="2724912"/>
            <a:ext cx="457200" cy="73152"/>
          </a:xfrm>
          <a:prstGeom prst="rect">
            <a:avLst/>
          </a:prstGeom>
          <a:solidFill>
            <a:srgbClr val="1EA7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2880360"/>
            <a:ext cx="2926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>
                <a:solidFill>
                  <a:srgbClr val="123047"/>
                </a:solidFill>
                <a:latin typeface="Segoe UI Black"/>
              </a:rPr>
              <a:t>Transparansi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3273552"/>
            <a:ext cx="2971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8A98A0"/>
                </a:solidFill>
                <a:latin typeface="Segoe UI"/>
              </a:rPr>
              <a:t>Status setiap pekerjaan terlihat dalam satu layar, sehingga tidak ada tugas yang terlewat.</a:t>
            </a:r>
          </a:p>
        </p:txBody>
      </p:sp>
      <p:sp>
        <p:nvSpPr>
          <p:cNvPr id="13" name="Snip Single Corner Rectangle 12"/>
          <p:cNvSpPr/>
          <p:nvPr/>
        </p:nvSpPr>
        <p:spPr>
          <a:xfrm>
            <a:off x="4453128" y="2468880"/>
            <a:ext cx="3456432" cy="1554480"/>
          </a:xfrm>
          <a:prstGeom prst="snip1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9E2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727448" y="2724912"/>
            <a:ext cx="457200" cy="73152"/>
          </a:xfrm>
          <a:prstGeom prst="rect">
            <a:avLst/>
          </a:prstGeom>
          <a:solidFill>
            <a:srgbClr val="1EA7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27448" y="2880360"/>
            <a:ext cx="2926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>
                <a:solidFill>
                  <a:srgbClr val="123047"/>
                </a:solidFill>
                <a:latin typeface="Segoe UI Black"/>
              </a:rPr>
              <a:t>Akuntabilitas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27448" y="3273552"/>
            <a:ext cx="2971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8A98A0"/>
                </a:solidFill>
                <a:latin typeface="Segoe UI"/>
              </a:rPr>
              <a:t>Tugas yang terpecah jelas memudahkan pembagian kerja antaranggota.</a:t>
            </a:r>
          </a:p>
        </p:txBody>
      </p:sp>
      <p:sp>
        <p:nvSpPr>
          <p:cNvPr id="17" name="Snip Single Corner Rectangle 16"/>
          <p:cNvSpPr/>
          <p:nvPr/>
        </p:nvSpPr>
        <p:spPr>
          <a:xfrm>
            <a:off x="8083296" y="2468880"/>
            <a:ext cx="3456432" cy="1554480"/>
          </a:xfrm>
          <a:prstGeom prst="snip1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9E2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357616" y="2724912"/>
            <a:ext cx="457200" cy="73152"/>
          </a:xfrm>
          <a:prstGeom prst="rect">
            <a:avLst/>
          </a:prstGeom>
          <a:solidFill>
            <a:srgbClr val="1EA7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57616" y="2880360"/>
            <a:ext cx="2926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>
                <a:solidFill>
                  <a:srgbClr val="123047"/>
                </a:solidFill>
                <a:latin typeface="Segoe UI Black"/>
              </a:rPr>
              <a:t>Keterlacakan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57616" y="3273552"/>
            <a:ext cx="2971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8A98A0"/>
                </a:solidFill>
                <a:latin typeface="Segoe UI"/>
              </a:rPr>
              <a:t>Progres terukur (12 selesai, 2 berjalan, 2 antre) dan langsung terhubung ke repositori kode.</a:t>
            </a:r>
          </a:p>
        </p:txBody>
      </p:sp>
      <p:sp>
        <p:nvSpPr>
          <p:cNvPr id="21" name="Snip Single Corner Rectangle 20"/>
          <p:cNvSpPr/>
          <p:nvPr/>
        </p:nvSpPr>
        <p:spPr>
          <a:xfrm>
            <a:off x="822960" y="4343400"/>
            <a:ext cx="10543032" cy="1371600"/>
          </a:xfrm>
          <a:prstGeom prst="snip1Rect">
            <a:avLst>
              <a:gd name="adj" fmla="val 5000"/>
            </a:avLst>
          </a:prstGeom>
          <a:solidFill>
            <a:srgbClr val="123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43000" y="452628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A7DD"/>
                </a:solidFill>
                <a:latin typeface="Segoe UI Semibold"/>
              </a:rPr>
              <a:t>TAUTAN PROYEK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43000" y="4846320"/>
            <a:ext cx="100584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AEC2CC"/>
                </a:solidFill>
                <a:latin typeface="Segoe UI"/>
              </a:rPr>
              <a:t>Repository :  </a:t>
            </a:r>
            <a:r>
              <a:rPr sz="1350" b="1">
                <a:solidFill>
                  <a:srgbClr val="FFFFFF"/>
                </a:solidFill>
                <a:latin typeface="Segoe UI Semibold"/>
              </a:rPr>
              <a:t>github.com/sianida26/sti-final-project-kel5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43000" y="5230368"/>
            <a:ext cx="100584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AEC2CC"/>
                </a:solidFill>
                <a:latin typeface="Segoe UI"/>
              </a:rPr>
              <a:t>Board        :  </a:t>
            </a:r>
            <a:r>
              <a:rPr sz="1350" b="1">
                <a:solidFill>
                  <a:srgbClr val="FFFFFF"/>
                </a:solidFill>
                <a:latin typeface="Segoe UI Semibold"/>
              </a:rPr>
              <a:t>github.com/users/sianida26/projects/2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66928" y="475488"/>
            <a:ext cx="146304" cy="603504"/>
          </a:xfrm>
          <a:prstGeom prst="rect">
            <a:avLst/>
          </a:prstGeom>
          <a:solidFill>
            <a:srgbClr val="1EA7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420624"/>
            <a:ext cx="10058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A7DD"/>
                </a:solidFill>
                <a:latin typeface="Segoe UI Semibold"/>
              </a:rPr>
              <a:t>MANAJEMEN PROYEK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40080"/>
            <a:ext cx="106070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23047"/>
                </a:solidFill>
                <a:latin typeface="Segoe UI Black"/>
              </a:rPr>
              <a:t>BOARD KANBAN: </a:t>
            </a:r>
            <a:r>
              <a:rPr sz="2600" b="1">
                <a:solidFill>
                  <a:srgbClr val="1EA7DD"/>
                </a:solidFill>
                <a:latin typeface="Segoe UI Black"/>
              </a:rPr>
              <a:t>STATUS PEKERJAAN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73368"/>
            <a:ext cx="6400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A98A0"/>
                </a:solidFill>
                <a:latin typeface="Segoe UI"/>
              </a:rPr>
              <a:t>final project sti · kelompok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355080"/>
            <a:ext cx="822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A7DD"/>
                </a:solidFill>
                <a:latin typeface="Segoe UI Semibold"/>
              </a:rPr>
              <a:t>06</a:t>
            </a:r>
          </a:p>
        </p:txBody>
      </p:sp>
      <p:sp>
        <p:nvSpPr>
          <p:cNvPr id="8" name="Snip Single Corner Rectangle 7"/>
          <p:cNvSpPr/>
          <p:nvPr/>
        </p:nvSpPr>
        <p:spPr>
          <a:xfrm>
            <a:off x="777240" y="1371600"/>
            <a:ext cx="5027257" cy="4818888"/>
          </a:xfrm>
          <a:prstGeom prst="snip1Rect">
            <a:avLst>
              <a:gd name="adj" fmla="val 3000"/>
            </a:avLst>
          </a:prstGeom>
          <a:noFill/>
          <a:ln w="15875">
            <a:solidFill>
              <a:srgbClr val="D9E2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104" y="1426464"/>
            <a:ext cx="4917529" cy="47091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503920" y="1517904"/>
            <a:ext cx="3108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A7DD"/>
                </a:solidFill>
                <a:latin typeface="Segoe UI Semibold"/>
              </a:rPr>
              <a:t>RINGKASAN STATUS</a:t>
            </a:r>
          </a:p>
        </p:txBody>
      </p:sp>
      <p:sp>
        <p:nvSpPr>
          <p:cNvPr id="11" name="Snip Single Corner Rectangle 10"/>
          <p:cNvSpPr/>
          <p:nvPr/>
        </p:nvSpPr>
        <p:spPr>
          <a:xfrm>
            <a:off x="8503920" y="1938528"/>
            <a:ext cx="3154680" cy="841248"/>
          </a:xfrm>
          <a:prstGeom prst="snip1Rect">
            <a:avLst>
              <a:gd name="adj" fmla="val 14000"/>
            </a:avLst>
          </a:prstGeom>
          <a:solidFill>
            <a:srgbClr val="FFFFFF"/>
          </a:solidFill>
          <a:ln w="15875">
            <a:solidFill>
              <a:srgbClr val="D9E2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503920" y="2048256"/>
            <a:ext cx="91440" cy="621792"/>
          </a:xfrm>
          <a:prstGeom prst="rect">
            <a:avLst/>
          </a:prstGeom>
          <a:solidFill>
            <a:srgbClr val="1EA7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823960" y="1975104"/>
            <a:ext cx="109728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EA7DD"/>
                </a:solidFill>
                <a:latin typeface="Segoe UI Black"/>
              </a:rPr>
              <a:t>12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21240" y="1975104"/>
            <a:ext cx="164592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123047"/>
                </a:solidFill>
                <a:latin typeface="Segoe UI Semibold"/>
              </a:rPr>
              <a:t>Done</a:t>
            </a:r>
          </a:p>
        </p:txBody>
      </p:sp>
      <p:sp>
        <p:nvSpPr>
          <p:cNvPr id="15" name="Snip Single Corner Rectangle 14"/>
          <p:cNvSpPr/>
          <p:nvPr/>
        </p:nvSpPr>
        <p:spPr>
          <a:xfrm>
            <a:off x="8503920" y="2907792"/>
            <a:ext cx="3154680" cy="841248"/>
          </a:xfrm>
          <a:prstGeom prst="snip1Rect">
            <a:avLst>
              <a:gd name="adj" fmla="val 14000"/>
            </a:avLst>
          </a:prstGeom>
          <a:solidFill>
            <a:srgbClr val="FFFFFF"/>
          </a:solidFill>
          <a:ln w="15875">
            <a:solidFill>
              <a:srgbClr val="D9E2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503920" y="3017520"/>
            <a:ext cx="91440" cy="621792"/>
          </a:xfrm>
          <a:prstGeom prst="rect">
            <a:avLst/>
          </a:prstGeom>
          <a:solidFill>
            <a:srgbClr val="123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823960" y="2944368"/>
            <a:ext cx="109728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23047"/>
                </a:solidFill>
                <a:latin typeface="Segoe UI Black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921240" y="2944368"/>
            <a:ext cx="164592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123047"/>
                </a:solidFill>
                <a:latin typeface="Segoe UI Semibold"/>
              </a:rPr>
              <a:t>In Progress</a:t>
            </a:r>
          </a:p>
        </p:txBody>
      </p:sp>
      <p:sp>
        <p:nvSpPr>
          <p:cNvPr id="19" name="Snip Single Corner Rectangle 18"/>
          <p:cNvSpPr/>
          <p:nvPr/>
        </p:nvSpPr>
        <p:spPr>
          <a:xfrm>
            <a:off x="8503920" y="3877056"/>
            <a:ext cx="3154680" cy="841248"/>
          </a:xfrm>
          <a:prstGeom prst="snip1Rect">
            <a:avLst>
              <a:gd name="adj" fmla="val 14000"/>
            </a:avLst>
          </a:prstGeom>
          <a:solidFill>
            <a:srgbClr val="FFFFFF"/>
          </a:solidFill>
          <a:ln w="15875">
            <a:solidFill>
              <a:srgbClr val="D9E2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503920" y="3986784"/>
            <a:ext cx="91440" cy="621792"/>
          </a:xfrm>
          <a:prstGeom prst="rect">
            <a:avLst/>
          </a:prstGeom>
          <a:solidFill>
            <a:srgbClr val="8A9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823960" y="3913632"/>
            <a:ext cx="109728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8A98A0"/>
                </a:solidFill>
                <a:latin typeface="Segoe UI Black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921240" y="3913632"/>
            <a:ext cx="164592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123047"/>
                </a:solidFill>
                <a:latin typeface="Segoe UI Semibold"/>
              </a:rPr>
              <a:t>Todo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20" y="4956048"/>
            <a:ext cx="315468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EA7DD"/>
                </a:solidFill>
                <a:latin typeface="Segoe UI Semibold"/>
              </a:rPr>
              <a:t>16 kartu total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8A98A0"/>
                </a:solidFill>
                <a:latin typeface="Segoe UI"/>
              </a:rPr>
              <a:t>Tiap kartu mewakili satu fase pekerjaan, dari analisis hingga setup, dokumentasi, dan pengumpulan.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66928" y="475488"/>
            <a:ext cx="146304" cy="603504"/>
          </a:xfrm>
          <a:prstGeom prst="rect">
            <a:avLst/>
          </a:prstGeom>
          <a:solidFill>
            <a:srgbClr val="1EA7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420624"/>
            <a:ext cx="10058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A7DD"/>
                </a:solidFill>
                <a:latin typeface="Segoe UI Semibold"/>
              </a:rPr>
              <a:t>MANAJEMEN PROYEK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40080"/>
            <a:ext cx="106070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23047"/>
                </a:solidFill>
                <a:latin typeface="Segoe UI Black"/>
              </a:rPr>
              <a:t>PEMETAAN TUGAS KE FASE </a:t>
            </a:r>
            <a:r>
              <a:rPr sz="2600" b="1">
                <a:solidFill>
                  <a:srgbClr val="1EA7DD"/>
                </a:solidFill>
                <a:latin typeface="Segoe UI Black"/>
              </a:rPr>
              <a:t>CRISP-DM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73368"/>
            <a:ext cx="6400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A98A0"/>
                </a:solidFill>
                <a:latin typeface="Segoe UI"/>
              </a:rPr>
              <a:t>final project sti · kelompok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355080"/>
            <a:ext cx="822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A7DD"/>
                </a:solidFill>
                <a:latin typeface="Segoe UI Semibold"/>
              </a:rPr>
              <a:t>07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1600200"/>
            <a:ext cx="4206240" cy="640080"/>
          </a:xfrm>
          <a:prstGeom prst="rect">
            <a:avLst/>
          </a:prstGeom>
          <a:solidFill>
            <a:srgbClr val="123047"/>
          </a:solidFill>
          <a:ln w="9525">
            <a:solidFill>
              <a:srgbClr val="D9E2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7552" y="1600200"/>
            <a:ext cx="393192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Segoe UI Semibold"/>
              </a:rPr>
              <a:t>Fase CRISP-DM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0" y="1600200"/>
            <a:ext cx="6336792" cy="640080"/>
          </a:xfrm>
          <a:prstGeom prst="rect">
            <a:avLst/>
          </a:prstGeom>
          <a:solidFill>
            <a:srgbClr val="123047"/>
          </a:solidFill>
          <a:ln w="9525">
            <a:solidFill>
              <a:srgbClr val="D9E2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93792" y="1600200"/>
            <a:ext cx="6062472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Segoe UI Semibold"/>
              </a:rPr>
              <a:t>Pekerjaan pada studi kasus Inventory CGS-1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2240280"/>
            <a:ext cx="4206240" cy="640080"/>
          </a:xfrm>
          <a:prstGeom prst="rect">
            <a:avLst/>
          </a:prstGeom>
          <a:solidFill>
            <a:srgbClr val="F3F7F9"/>
          </a:solidFill>
          <a:ln w="9525">
            <a:solidFill>
              <a:srgbClr val="D9E2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87552" y="2240280"/>
            <a:ext cx="393192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23047"/>
                </a:solidFill>
                <a:latin typeface="Segoe UI Semibold"/>
              </a:rPr>
              <a:t>Business Understanding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0" y="2240280"/>
            <a:ext cx="6336792" cy="640080"/>
          </a:xfrm>
          <a:prstGeom prst="rect">
            <a:avLst/>
          </a:prstGeom>
          <a:solidFill>
            <a:srgbClr val="F3F7F9"/>
          </a:solidFill>
          <a:ln w="9525">
            <a:solidFill>
              <a:srgbClr val="D9E2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93792" y="2240280"/>
            <a:ext cx="6062472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1E2C33"/>
                </a:solidFill>
                <a:latin typeface="Segoe UI"/>
              </a:rPr>
              <a:t>Menyusun 3 pertanyaan bisnis (status, vendor, kalibrasi)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2880360"/>
            <a:ext cx="420624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D9E2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87552" y="2880360"/>
            <a:ext cx="393192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23047"/>
                </a:solidFill>
                <a:latin typeface="Segoe UI Semibold"/>
              </a:rPr>
              <a:t>Data Understanding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0" y="2880360"/>
            <a:ext cx="6336792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D9E2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93792" y="2880360"/>
            <a:ext cx="6062472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1E2C33"/>
                </a:solidFill>
                <a:latin typeface="Segoe UI"/>
              </a:rPr>
              <a:t>Memuat data Excel instrumen, memeriksa data hilang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3520440"/>
            <a:ext cx="4206240" cy="640080"/>
          </a:xfrm>
          <a:prstGeom prst="rect">
            <a:avLst/>
          </a:prstGeom>
          <a:solidFill>
            <a:srgbClr val="F3F7F9"/>
          </a:solidFill>
          <a:ln w="9525">
            <a:solidFill>
              <a:srgbClr val="D9E2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87552" y="3520440"/>
            <a:ext cx="393192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23047"/>
                </a:solidFill>
                <a:latin typeface="Segoe UI Semibold"/>
              </a:rPr>
              <a:t>Data Preparation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0" y="3520440"/>
            <a:ext cx="6336792" cy="640080"/>
          </a:xfrm>
          <a:prstGeom prst="rect">
            <a:avLst/>
          </a:prstGeom>
          <a:solidFill>
            <a:srgbClr val="F3F7F9"/>
          </a:solidFill>
          <a:ln w="9525">
            <a:solidFill>
              <a:srgbClr val="D9E2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93792" y="3520440"/>
            <a:ext cx="6062472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1E2C33"/>
                </a:solidFill>
                <a:latin typeface="Segoe UI"/>
              </a:rPr>
              <a:t>Membersihkan data, menandai flag kalibrasi &amp; serial number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4160520"/>
            <a:ext cx="420624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D9E2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87552" y="4160520"/>
            <a:ext cx="393192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23047"/>
                </a:solidFill>
                <a:latin typeface="Segoe UI Semibold"/>
              </a:rPr>
              <a:t>Modeling / Analisis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0" y="4160520"/>
            <a:ext cx="6336792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D9E2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193792" y="4160520"/>
            <a:ext cx="6062472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1E2C33"/>
                </a:solidFill>
                <a:latin typeface="Segoe UI"/>
              </a:rPr>
              <a:t>Status aset, ketergantungan vendor, cakupan kalibrasi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22960" y="4800600"/>
            <a:ext cx="4206240" cy="640080"/>
          </a:xfrm>
          <a:prstGeom prst="rect">
            <a:avLst/>
          </a:prstGeom>
          <a:solidFill>
            <a:srgbClr val="F3F7F9"/>
          </a:solidFill>
          <a:ln w="9525">
            <a:solidFill>
              <a:srgbClr val="D9E2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87552" y="4800600"/>
            <a:ext cx="393192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23047"/>
                </a:solidFill>
                <a:latin typeface="Segoe UI Semibold"/>
              </a:rPr>
              <a:t>Evaluation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29200" y="4800600"/>
            <a:ext cx="6336792" cy="640080"/>
          </a:xfrm>
          <a:prstGeom prst="rect">
            <a:avLst/>
          </a:prstGeom>
          <a:solidFill>
            <a:srgbClr val="F3F7F9"/>
          </a:solidFill>
          <a:ln w="9525">
            <a:solidFill>
              <a:srgbClr val="D9E2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193792" y="4800600"/>
            <a:ext cx="6062472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1E2C33"/>
                </a:solidFill>
                <a:latin typeface="Segoe UI"/>
              </a:rPr>
              <a:t>Gap kalibrasi, watchlist aset prioritas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22960" y="5440680"/>
            <a:ext cx="420624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D9E2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87552" y="5440680"/>
            <a:ext cx="393192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23047"/>
                </a:solidFill>
                <a:latin typeface="Segoe UI Semibold"/>
              </a:rPr>
              <a:t>Deployment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029200" y="5440680"/>
            <a:ext cx="6336792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D9E2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193792" y="5440680"/>
            <a:ext cx="6062472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1E2C33"/>
                </a:solidFill>
                <a:latin typeface="Segoe UI"/>
              </a:rPr>
              <a:t>Dashboard pemantauan Looker Studio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22960" y="2240280"/>
            <a:ext cx="54864" cy="3840479"/>
          </a:xfrm>
          <a:prstGeom prst="rect">
            <a:avLst/>
          </a:prstGeom>
          <a:solidFill>
            <a:srgbClr val="1EA7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66928" y="475488"/>
            <a:ext cx="146304" cy="603504"/>
          </a:xfrm>
          <a:prstGeom prst="rect">
            <a:avLst/>
          </a:prstGeom>
          <a:solidFill>
            <a:srgbClr val="1EA7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420624"/>
            <a:ext cx="10058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A7DD"/>
                </a:solidFill>
                <a:latin typeface="Segoe UI Semibold"/>
              </a:rPr>
              <a:t>STUDI KASUS · INVENTORY CGS-1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40080"/>
            <a:ext cx="106070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23047"/>
                </a:solidFill>
                <a:latin typeface="Segoe UI Black"/>
              </a:rPr>
              <a:t>KONTEKS &amp; </a:t>
            </a:r>
            <a:r>
              <a:rPr sz="2600" b="1">
                <a:solidFill>
                  <a:srgbClr val="1EA7DD"/>
                </a:solidFill>
                <a:latin typeface="Segoe UI Black"/>
              </a:rPr>
              <a:t>PERTANYAAN BISNIS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73368"/>
            <a:ext cx="6400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A98A0"/>
                </a:solidFill>
                <a:latin typeface="Segoe UI"/>
              </a:rPr>
              <a:t>final project sti · kelompok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355080"/>
            <a:ext cx="822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A7DD"/>
                </a:solidFill>
                <a:latin typeface="Segoe UI Semibold"/>
              </a:rPr>
              <a:t>08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517904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EA7DD"/>
                </a:solidFill>
                <a:latin typeface="Segoe UI Semibold"/>
              </a:rPr>
              <a:t>CGS-1 (Custody Gas Station)</a:t>
            </a:r>
            <a:r>
              <a:rPr sz="1400" b="0">
                <a:solidFill>
                  <a:srgbClr val="1E2C33"/>
                </a:solidFill>
                <a:latin typeface="Segoe UI"/>
              </a:rPr>
              <a:t> mengoperasikan banyak instrumen lapangan yang menjadi tumpuan keandalan, keselamatan, dan kepatuhan operasi. Datanya sudah tersedia, tetapi belum diolah dan kualitasnya belum pernah dievaluasi.</a:t>
            </a:r>
          </a:p>
        </p:txBody>
      </p:sp>
      <p:sp>
        <p:nvSpPr>
          <p:cNvPr id="9" name="Snip Single Corner Rectangle 8"/>
          <p:cNvSpPr/>
          <p:nvPr/>
        </p:nvSpPr>
        <p:spPr>
          <a:xfrm>
            <a:off x="822960" y="2606040"/>
            <a:ext cx="914400" cy="914400"/>
          </a:xfrm>
          <a:prstGeom prst="snip1Rect">
            <a:avLst>
              <a:gd name="adj" fmla="val 20000"/>
            </a:avLst>
          </a:prstGeom>
          <a:solidFill>
            <a:srgbClr val="123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2624328"/>
            <a:ext cx="91440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1EA7DD"/>
                </a:solidFill>
                <a:latin typeface="Segoe UI Black"/>
              </a:rPr>
              <a:t>Q1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20240" y="2734056"/>
            <a:ext cx="94183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123047"/>
                </a:solidFill>
                <a:latin typeface="Segoe UI Semibold"/>
              </a:rPr>
              <a:t>Komposisi &amp; status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>
                <a:solidFill>
                  <a:srgbClr val="8A98A0"/>
                </a:solidFill>
                <a:latin typeface="Segoe UI"/>
              </a:rPr>
              <a:t>Bagaimana sebaran instrumen yang aktif dibanding yang tidak aktif?</a:t>
            </a:r>
          </a:p>
        </p:txBody>
      </p:sp>
      <p:sp>
        <p:nvSpPr>
          <p:cNvPr id="12" name="Snip Single Corner Rectangle 11"/>
          <p:cNvSpPr/>
          <p:nvPr/>
        </p:nvSpPr>
        <p:spPr>
          <a:xfrm>
            <a:off x="822960" y="3666744"/>
            <a:ext cx="914400" cy="914400"/>
          </a:xfrm>
          <a:prstGeom prst="snip1Rect">
            <a:avLst>
              <a:gd name="adj" fmla="val 20000"/>
            </a:avLst>
          </a:prstGeom>
          <a:solidFill>
            <a:srgbClr val="123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3685031"/>
            <a:ext cx="91440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1EA7DD"/>
                </a:solidFill>
                <a:latin typeface="Segoe UI Black"/>
              </a:rPr>
              <a:t>Q2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20240" y="3794759"/>
            <a:ext cx="94183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123047"/>
                </a:solidFill>
                <a:latin typeface="Segoe UI Semibold"/>
              </a:rPr>
              <a:t>Jenis &amp; vendor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>
                <a:solidFill>
                  <a:srgbClr val="8A98A0"/>
                </a:solidFill>
                <a:latin typeface="Segoe UI"/>
              </a:rPr>
              <a:t>Equipment class dan manufacturer apa yang paling dominan, dan seberapa besar ketergantungan vendornya?</a:t>
            </a:r>
          </a:p>
        </p:txBody>
      </p:sp>
      <p:sp>
        <p:nvSpPr>
          <p:cNvPr id="15" name="Snip Single Corner Rectangle 14"/>
          <p:cNvSpPr/>
          <p:nvPr/>
        </p:nvSpPr>
        <p:spPr>
          <a:xfrm>
            <a:off x="822960" y="4727448"/>
            <a:ext cx="914400" cy="914400"/>
          </a:xfrm>
          <a:prstGeom prst="snip1Rect">
            <a:avLst>
              <a:gd name="adj" fmla="val 20000"/>
            </a:avLst>
          </a:prstGeom>
          <a:solidFill>
            <a:srgbClr val="123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4745736"/>
            <a:ext cx="91440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1EA7DD"/>
                </a:solidFill>
                <a:latin typeface="Segoe UI Black"/>
              </a:rPr>
              <a:t>Q3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20240" y="4855464"/>
            <a:ext cx="94183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123047"/>
                </a:solidFill>
                <a:latin typeface="Segoe UI Semibold"/>
              </a:rPr>
              <a:t>Kelengkapan kalibrasi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>
                <a:solidFill>
                  <a:srgbClr val="8A98A0"/>
                </a:solidFill>
                <a:latin typeface="Segoe UI"/>
              </a:rPr>
              <a:t>Instrumen mana yang belum memiliki data kalibrasi, sehingga berpotensi menimbulkan gap keselamatan dan kepatuhan?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66928" y="475488"/>
            <a:ext cx="146304" cy="603504"/>
          </a:xfrm>
          <a:prstGeom prst="rect">
            <a:avLst/>
          </a:prstGeom>
          <a:solidFill>
            <a:srgbClr val="1EA7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420624"/>
            <a:ext cx="10058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A7DD"/>
                </a:solidFill>
                <a:latin typeface="Segoe UI Semibold"/>
              </a:rPr>
              <a:t>STUDI KASUS · INVENTORY CGS-1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40080"/>
            <a:ext cx="106070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23047"/>
                </a:solidFill>
                <a:latin typeface="Segoe UI Black"/>
              </a:rPr>
              <a:t>TEMUAN &amp; </a:t>
            </a:r>
            <a:r>
              <a:rPr sz="2600" b="1">
                <a:solidFill>
                  <a:srgbClr val="1EA7DD"/>
                </a:solidFill>
                <a:latin typeface="Segoe UI Black"/>
              </a:rPr>
              <a:t>REKOMENDASI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73368"/>
            <a:ext cx="6400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A98A0"/>
                </a:solidFill>
                <a:latin typeface="Segoe UI"/>
              </a:rPr>
              <a:t>final project sti · kelompok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355080"/>
            <a:ext cx="822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A7DD"/>
                </a:solidFill>
                <a:latin typeface="Segoe UI Semibold"/>
              </a:rPr>
              <a:t>09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463040"/>
            <a:ext cx="5212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EA7DD"/>
                </a:solidFill>
                <a:latin typeface="Segoe UI Semibold"/>
              </a:rPr>
              <a:t>TEMUAN UTAMA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1847088"/>
            <a:ext cx="5257800" cy="4206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100">
                <a:solidFill>
                  <a:srgbClr val="1EA7DD"/>
                </a:solidFill>
                <a:latin typeface="Segoe UI"/>
              </a:rPr>
              <a:t>▪  </a:t>
            </a:r>
            <a:r>
              <a:rPr sz="1300">
                <a:solidFill>
                  <a:srgbClr val="1E2C33"/>
                </a:solidFill>
                <a:latin typeface="Segoe UI"/>
              </a:rPr>
              <a:t>Mayoritas instrumen berstatus Active (~94%), menandakan ketersediaan aset yang baik.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100">
                <a:solidFill>
                  <a:srgbClr val="1EA7DD"/>
                </a:solidFill>
                <a:latin typeface="Segoe UI"/>
              </a:rPr>
              <a:t>▪  </a:t>
            </a:r>
            <a:r>
              <a:rPr sz="1300">
                <a:solidFill>
                  <a:srgbClr val="1E2C33"/>
                </a:solidFill>
                <a:latin typeface="Segoe UI"/>
              </a:rPr>
              <a:t>Komposisi didominasi Actuator dan Pressure Transmitter, dengan vendor terpusat pada Rosemount dan Honeywell sehingga muncul ketergantungan vendor.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100">
                <a:solidFill>
                  <a:srgbClr val="1EA7DD"/>
                </a:solidFill>
                <a:latin typeface="Segoe UI"/>
              </a:rPr>
              <a:t>▪  </a:t>
            </a:r>
            <a:r>
              <a:rPr sz="1300">
                <a:solidFill>
                  <a:srgbClr val="1E2C33"/>
                </a:solidFill>
                <a:latin typeface="Segoe UI"/>
              </a:rPr>
              <a:t>Temuan terpenting: cukup banyak instrumen belum memiliki Calibrate Range tercatat, menyisakan gap data kalibrasi yang signifikan.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100">
                <a:solidFill>
                  <a:srgbClr val="1EA7DD"/>
                </a:solidFill>
                <a:latin typeface="Segoe UI"/>
              </a:rPr>
              <a:t>▪  </a:t>
            </a:r>
            <a:r>
              <a:rPr sz="1300">
                <a:solidFill>
                  <a:srgbClr val="1E2C33"/>
                </a:solidFill>
                <a:latin typeface="Segoe UI"/>
              </a:rPr>
              <a:t>Instrumen Active yang belum berkalibrasi masuk daftar prioritas karena berisiko terhadap kepatuhan dan keselamatan.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100">
                <a:solidFill>
                  <a:srgbClr val="1EA7DD"/>
                </a:solidFill>
                <a:latin typeface="Segoe UI"/>
              </a:rPr>
              <a:t>▪  </a:t>
            </a:r>
            <a:r>
              <a:rPr sz="1300">
                <a:solidFill>
                  <a:srgbClr val="1E2C33"/>
                </a:solidFill>
                <a:latin typeface="Segoe UI"/>
              </a:rPr>
              <a:t>Sebagian Serial Number masih kosong, menyulitkan keterlacakan aset dan klaim garansi.</a:t>
            </a:r>
          </a:p>
        </p:txBody>
      </p:sp>
      <p:sp>
        <p:nvSpPr>
          <p:cNvPr id="10" name="Snip Single Corner Rectangle 9"/>
          <p:cNvSpPr/>
          <p:nvPr/>
        </p:nvSpPr>
        <p:spPr>
          <a:xfrm>
            <a:off x="6400800" y="1417320"/>
            <a:ext cx="4965192" cy="4617720"/>
          </a:xfrm>
          <a:prstGeom prst="snip1Rect">
            <a:avLst>
              <a:gd name="adj" fmla="val 5000"/>
            </a:avLst>
          </a:prstGeom>
          <a:solidFill>
            <a:srgbClr val="F3F7F9"/>
          </a:solidFill>
          <a:ln w="15875">
            <a:solidFill>
              <a:srgbClr val="D9E2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20840" y="1645920"/>
            <a:ext cx="4389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EA7DD"/>
                </a:solidFill>
                <a:latin typeface="Segoe UI Semibold"/>
              </a:rPr>
              <a:t>REKOMENDASI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20840" y="2048256"/>
            <a:ext cx="4389120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050">
                <a:solidFill>
                  <a:srgbClr val="1EA7DD"/>
                </a:solidFill>
                <a:latin typeface="Segoe UI"/>
              </a:rPr>
              <a:t>▪  </a:t>
            </a:r>
            <a:r>
              <a:rPr sz="1250">
                <a:solidFill>
                  <a:srgbClr val="1E2C33"/>
                </a:solidFill>
                <a:latin typeface="Segoe UI"/>
              </a:rPr>
              <a:t>Lengkapi Calibrate Range dan Serial Number, dimulai dari instrumen prioritas yang aktif namun belum berkalibrasi.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050">
                <a:solidFill>
                  <a:srgbClr val="1EA7DD"/>
                </a:solidFill>
                <a:latin typeface="Segoe UI"/>
              </a:rPr>
              <a:t>▪  </a:t>
            </a:r>
            <a:r>
              <a:rPr sz="1250">
                <a:solidFill>
                  <a:srgbClr val="1E2C33"/>
                </a:solidFill>
                <a:latin typeface="Segoe UI"/>
              </a:rPr>
              <a:t>Jadikan persentase cakupan kalibrasi sebagai KPI yang dipantau berkala di dashboard.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050">
                <a:solidFill>
                  <a:srgbClr val="1EA7DD"/>
                </a:solidFill>
                <a:latin typeface="Segoe UI"/>
              </a:rPr>
              <a:t>▪  </a:t>
            </a:r>
            <a:r>
              <a:rPr sz="1250">
                <a:solidFill>
                  <a:srgbClr val="1E2C33"/>
                </a:solidFill>
                <a:latin typeface="Segoe UI"/>
              </a:rPr>
              <a:t>Standardkan pengisian data di sumbernya agar tidak ada field yang kosong.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720840" y="4846320"/>
            <a:ext cx="4325112" cy="18288"/>
          </a:xfrm>
          <a:prstGeom prst="rect">
            <a:avLst/>
          </a:prstGeom>
          <a:solidFill>
            <a:srgbClr val="D9E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20840" y="4983480"/>
            <a:ext cx="4297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A7DD"/>
                </a:solidFill>
                <a:latin typeface="Segoe UI Semibold"/>
              </a:rPr>
              <a:t>Keterbatasan:  </a:t>
            </a:r>
            <a:r>
              <a:rPr sz="1100" b="0">
                <a:solidFill>
                  <a:srgbClr val="8A98A0"/>
                </a:solidFill>
                <a:latin typeface="Segoe UI"/>
              </a:rPr>
              <a:t>data masih terbatas (18 instrumen, satu area, satu titik waktu), sehingga analisis bersifat deskriptif dan belum prediktif.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66928" y="475488"/>
            <a:ext cx="146304" cy="603504"/>
          </a:xfrm>
          <a:prstGeom prst="rect">
            <a:avLst/>
          </a:prstGeom>
          <a:solidFill>
            <a:srgbClr val="1EA7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420624"/>
            <a:ext cx="10058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A7DD"/>
                </a:solidFill>
                <a:latin typeface="Segoe UI Semibold"/>
              </a:rPr>
              <a:t>PENUTUP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40080"/>
            <a:ext cx="106070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23047"/>
                </a:solidFill>
                <a:latin typeface="Segoe UI Black"/>
              </a:rPr>
              <a:t>KESIMPULAN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73368"/>
            <a:ext cx="6400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A98A0"/>
                </a:solidFill>
                <a:latin typeface="Segoe UI"/>
              </a:rPr>
              <a:t>final project sti · kelompok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355080"/>
            <a:ext cx="822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A7DD"/>
                </a:solidFill>
                <a:latin typeface="Segoe UI Semibold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691640"/>
            <a:ext cx="10515600" cy="3840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1600"/>
              </a:spcAft>
            </a:pPr>
            <a:r>
              <a:rPr sz="1250">
                <a:solidFill>
                  <a:srgbClr val="1EA7DD"/>
                </a:solidFill>
                <a:latin typeface="Segoe UI"/>
              </a:rPr>
              <a:t>▪  </a:t>
            </a:r>
            <a:r>
              <a:rPr sz="1450">
                <a:solidFill>
                  <a:srgbClr val="1E2C33"/>
                </a:solidFill>
                <a:latin typeface="Segoe UI"/>
              </a:rPr>
              <a:t>Pendekatan CRISP-DM berhasil mengubah dataset instrumen mentah menjadi dashboard pemantauan yang menjawab pertanyaan bisnis nyata.</a:t>
            </a:r>
          </a:p>
          <a:p>
            <a:pPr>
              <a:lnSpc>
                <a:spcPct val="118000"/>
              </a:lnSpc>
              <a:spcAft>
                <a:spcPts val="1600"/>
              </a:spcAft>
            </a:pPr>
            <a:r>
              <a:rPr sz="1250">
                <a:solidFill>
                  <a:srgbClr val="1EA7DD"/>
                </a:solidFill>
                <a:latin typeface="Segoe UI"/>
              </a:rPr>
              <a:t>▪  </a:t>
            </a:r>
            <a:r>
              <a:rPr sz="1450">
                <a:solidFill>
                  <a:srgbClr val="1E2C33"/>
                </a:solidFill>
                <a:latin typeface="Segoe UI"/>
              </a:rPr>
              <a:t>Inventory CGS-1: ketersediaan aset tergolong baik (~94% aktif), tetapi gap data kalibrasi perlu segera ditindaklanjuti demi keselamatan dan kepatuhan.</a:t>
            </a:r>
          </a:p>
          <a:p>
            <a:pPr>
              <a:lnSpc>
                <a:spcPct val="118000"/>
              </a:lnSpc>
              <a:spcAft>
                <a:spcPts val="1600"/>
              </a:spcAft>
            </a:pPr>
            <a:r>
              <a:rPr sz="1250">
                <a:solidFill>
                  <a:srgbClr val="1EA7DD"/>
                </a:solidFill>
                <a:latin typeface="Segoe UI"/>
              </a:rPr>
              <a:t>▪  </a:t>
            </a:r>
            <a:r>
              <a:rPr sz="1450">
                <a:solidFill>
                  <a:srgbClr val="1E2C33"/>
                </a:solidFill>
                <a:latin typeface="Segoe UI"/>
              </a:rPr>
              <a:t>Instrumen Active yang belum berkalibrasi menjadi watchlist prioritas, dan sebagian Serial Number masih perlu dilengkapi untuk keterlacakan aset.</a:t>
            </a:r>
          </a:p>
          <a:p>
            <a:pPr>
              <a:lnSpc>
                <a:spcPct val="118000"/>
              </a:lnSpc>
              <a:spcAft>
                <a:spcPts val="1600"/>
              </a:spcAft>
            </a:pPr>
            <a:r>
              <a:rPr sz="1250">
                <a:solidFill>
                  <a:srgbClr val="1EA7DD"/>
                </a:solidFill>
                <a:latin typeface="Segoe UI"/>
              </a:rPr>
              <a:t>▪  </a:t>
            </a:r>
            <a:r>
              <a:rPr sz="1450">
                <a:solidFill>
                  <a:srgbClr val="1E2C33"/>
                </a:solidFill>
                <a:latin typeface="Segoe UI"/>
              </a:rPr>
              <a:t>Manajemen proyek lewat GitHub Projects menjaga pekerjaan kelompok tetap transparan, terbagi rapi, dan terlacak (12 selesai, 2 berjalan, 2 antre).</a:t>
            </a:r>
          </a:p>
          <a:p>
            <a:pPr>
              <a:lnSpc>
                <a:spcPct val="118000"/>
              </a:lnSpc>
              <a:spcAft>
                <a:spcPts val="1600"/>
              </a:spcAft>
            </a:pPr>
            <a:r>
              <a:rPr sz="1250">
                <a:solidFill>
                  <a:srgbClr val="1EA7DD"/>
                </a:solidFill>
                <a:latin typeface="Segoe UI"/>
              </a:rPr>
              <a:t>▪  </a:t>
            </a:r>
            <a:r>
              <a:rPr sz="1450">
                <a:solidFill>
                  <a:srgbClr val="1E2C33"/>
                </a:solidFill>
                <a:latin typeface="Segoe UI"/>
              </a:rPr>
              <a:t>Langkah berikutnya: menuntaskan dashboard Looker Studio dan melengkapi data kalibrasi instrumen prioritas.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868680" y="2697480"/>
            <a:ext cx="146304" cy="914400"/>
          </a:xfrm>
          <a:prstGeom prst="rect">
            <a:avLst/>
          </a:prstGeom>
          <a:solidFill>
            <a:srgbClr val="1EA7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" y="2468880"/>
            <a:ext cx="100584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4600" b="1">
                <a:solidFill>
                  <a:srgbClr val="FFFFFF"/>
                </a:solidFill>
                <a:latin typeface="Segoe UI Black"/>
              </a:rPr>
              <a:t>TERIMA KASIH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370332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AEC2CC"/>
                </a:solidFill>
                <a:latin typeface="Segoe UI Semibold"/>
              </a:rPr>
              <a:t>Final Project STI · Kelompok 5 · MMT ITS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61288" y="416052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7C2EC"/>
                </a:solidFill>
                <a:latin typeface="Segoe UI"/>
              </a:rPr>
              <a:t>github.com/sianida26/sti-final-project-kel5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