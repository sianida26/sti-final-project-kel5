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7955279" y="-1097280"/>
            <a:ext cx="5486400" cy="5486400"/>
          </a:xfrm>
          <a:prstGeom prst="diamond">
            <a:avLst/>
          </a:prstGeom>
          <a:solidFill>
            <a:srgbClr val="123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875520" y="3840480"/>
            <a:ext cx="4572000" cy="4572000"/>
          </a:xfrm>
          <a:prstGeom prst="ellipse">
            <a:avLst/>
          </a:prstGeom>
          <a:solidFill>
            <a:srgbClr val="215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23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0515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9ECAE1"/>
                </a:solidFill>
                <a:latin typeface="Segoe UI Semibold"/>
              </a:rPr>
              <a:t>MAGISTER MANAJEMEN TEKNOLOGI · INSTITUT TEKNOLOGI SEPULUH NOPEMBER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783080"/>
            <a:ext cx="104241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5000" b="1">
                <a:solidFill>
                  <a:srgbClr val="FFFFFF"/>
                </a:solidFill>
                <a:latin typeface="Segoe UI Semibold"/>
              </a:rPr>
              <a:t>Final Project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0">
                <a:solidFill>
                  <a:srgbClr val="9ECAE1"/>
                </a:solidFill>
                <a:latin typeface="Segoe UI"/>
              </a:rPr>
              <a:t>Sistem &amp; Teknologi Informasi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611880"/>
            <a:ext cx="2926080" cy="45720"/>
          </a:xfrm>
          <a:prstGeom prst="rect">
            <a:avLst/>
          </a:prstGeom>
          <a:solidFill>
            <a:srgbClr val="D98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FFFFFF"/>
                </a:solidFill>
                <a:latin typeface="Segoe UI"/>
              </a:rPr>
              <a:t>Analisis &amp; Monitoring Data dengan Pendekatan CRISP-DM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3434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9ECAE1"/>
                </a:solidFill>
                <a:latin typeface="Segoe UI"/>
              </a:rPr>
              <a:t>Dua studi kasus · Dashboard interaktif · Manajemen proyek GitHub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5029200"/>
            <a:ext cx="6035040" cy="1143000"/>
          </a:xfrm>
          <a:prstGeom prst="roundRect">
            <a:avLst/>
          </a:prstGeom>
          <a:solidFill>
            <a:srgbClr val="123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5138928"/>
            <a:ext cx="5669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D98A4B"/>
                </a:solidFill>
                <a:latin typeface="Segoe UI Semibold"/>
              </a:rPr>
              <a:t>KELOMPOK 5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>
                <a:solidFill>
                  <a:srgbClr val="FFFFFF"/>
                </a:solidFill>
                <a:latin typeface="Segoe UI"/>
              </a:rPr>
              <a:t>Moch Chesa Nur Hidayat</a:t>
            </a:r>
            <a:r>
              <a:rPr sz="1350" b="0">
                <a:solidFill>
                  <a:srgbClr val="9ECAE1"/>
                </a:solidFill>
                <a:latin typeface="Segoe UI"/>
              </a:rPr>
              <a:t>   ·   [Anggota 2]   ·   [Anggota 3]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9ECAE1"/>
                </a:solidFill>
                <a:latin typeface="Segoe UI"/>
              </a:rPr>
              <a:t>GitHub: sianida26, Misbahulmunir26, …   |   Dosen: [isi nama dosen]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0" y="5440680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 Semibold"/>
              </a:rPr>
              <a:t>23 Juni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420624"/>
            <a:ext cx="128016" cy="566928"/>
          </a:xfrm>
          <a:prstGeom prst="rect">
            <a:avLst/>
          </a:prstGeom>
          <a:solidFill>
            <a:srgbClr val="1C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365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D98A4B"/>
                </a:solidFill>
                <a:latin typeface="Segoe UI Semibold"/>
              </a:rPr>
              <a:t>OUTLINE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566928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C6F8C"/>
                </a:solidFill>
                <a:latin typeface="Segoe UI Semibold"/>
              </a:rPr>
              <a:t>Agenda Presentasi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188720"/>
            <a:ext cx="11094415" cy="16459"/>
          </a:xfrm>
          <a:prstGeom prst="rect">
            <a:avLst/>
          </a:prstGeom>
          <a:solidFill>
            <a:srgbClr val="E2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0" y="6364224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A70"/>
                </a:solidFill>
                <a:latin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64224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A70"/>
                </a:solidFill>
                <a:latin typeface="Segoe UI"/>
              </a:rPr>
              <a:t>Final Project STI · Kelompok 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481328"/>
            <a:ext cx="868680" cy="749808"/>
          </a:xfrm>
          <a:prstGeom prst="roundRect">
            <a:avLst/>
          </a:prstGeom>
          <a:solidFill>
            <a:srgbClr val="F1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499616"/>
            <a:ext cx="868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C6F8C"/>
                </a:solidFill>
                <a:latin typeface="Segoe UI Semibold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1572768"/>
            <a:ext cx="9509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23A49"/>
                </a:solidFill>
                <a:latin typeface="Segoe UI Semibold"/>
              </a:rPr>
              <a:t>Latar Belakang &amp; Tujuan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5A6A70"/>
                </a:solidFill>
                <a:latin typeface="Segoe UI"/>
              </a:rPr>
              <a:t>Konteks dua studi kasus dan business questions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304288"/>
            <a:ext cx="868680" cy="749808"/>
          </a:xfrm>
          <a:prstGeom prst="roundRect">
            <a:avLst/>
          </a:prstGeom>
          <a:solidFill>
            <a:srgbClr val="F1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322576"/>
            <a:ext cx="868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C6F8C"/>
                </a:solidFill>
                <a:latin typeface="Segoe UI Semibol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395728"/>
            <a:ext cx="9509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23A49"/>
                </a:solidFill>
                <a:latin typeface="Segoe UI Semibold"/>
              </a:rPr>
              <a:t>Metodologi CRISP-DM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5A6A70"/>
                </a:solidFill>
                <a:latin typeface="Segoe UI"/>
              </a:rPr>
              <a:t>Kerangka kerja pengolahan data end-to-end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127248"/>
            <a:ext cx="868680" cy="749808"/>
          </a:xfrm>
          <a:prstGeom prst="roundRect">
            <a:avLst/>
          </a:prstGeom>
          <a:solidFill>
            <a:srgbClr val="F1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145536"/>
            <a:ext cx="868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C6F8C"/>
                </a:solidFill>
                <a:latin typeface="Segoe UI Semibol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218688"/>
            <a:ext cx="9509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23A49"/>
                </a:solidFill>
                <a:latin typeface="Segoe UI Semibold"/>
              </a:rPr>
              <a:t>Manajemen Proyek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5A6A70"/>
                </a:solidFill>
                <a:latin typeface="Segoe UI"/>
              </a:rPr>
              <a:t>Pelacakan pekerjaan via GitHub Projects (kanban)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3950208"/>
            <a:ext cx="868680" cy="749808"/>
          </a:xfrm>
          <a:prstGeom prst="roundRect">
            <a:avLst/>
          </a:prstGeom>
          <a:solidFill>
            <a:srgbClr val="F1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968496"/>
            <a:ext cx="868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C6F8C"/>
                </a:solidFill>
                <a:latin typeface="Segoe UI Semibold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19" y="4041648"/>
            <a:ext cx="9509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23A49"/>
                </a:solidFill>
                <a:latin typeface="Segoe UI Semibold"/>
              </a:rPr>
              <a:t>Studi Kasus 1: Inventory CGS-1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5A6A70"/>
                </a:solidFill>
                <a:latin typeface="Segoe UI"/>
              </a:rPr>
              <a:t>Monitoring kesiapan &amp; kalibrasi instrumen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4773168"/>
            <a:ext cx="868680" cy="749808"/>
          </a:xfrm>
          <a:prstGeom prst="roundRect">
            <a:avLst/>
          </a:prstGeom>
          <a:solidFill>
            <a:srgbClr val="F1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791456"/>
            <a:ext cx="868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C6F8C"/>
                </a:solidFill>
                <a:latin typeface="Segoe UI Semibol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4864608"/>
            <a:ext cx="9509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23A49"/>
                </a:solidFill>
                <a:latin typeface="Segoe UI Semibold"/>
              </a:rPr>
              <a:t>Studi Kasus 2: Penjualan Ritel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5A6A70"/>
                </a:solidFill>
                <a:latin typeface="Segoe UI"/>
              </a:rPr>
              <a:t>Tren, pendorong revenue, musiman, diskon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5596128"/>
            <a:ext cx="868680" cy="749808"/>
          </a:xfrm>
          <a:prstGeom prst="roundRect">
            <a:avLst/>
          </a:prstGeom>
          <a:solidFill>
            <a:srgbClr val="F1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614416"/>
            <a:ext cx="868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C6F8C"/>
                </a:solidFill>
                <a:latin typeface="Segoe UI Semibold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74519" y="5687568"/>
            <a:ext cx="9509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23A49"/>
                </a:solidFill>
                <a:latin typeface="Segoe UI Semibold"/>
              </a:rPr>
              <a:t>Kesimpulan &amp; Rekomendasi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5A6A70"/>
                </a:solidFill>
                <a:latin typeface="Segoe UI"/>
              </a:rPr>
              <a:t>Temuan utama dan tindak lanjut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420624"/>
            <a:ext cx="128016" cy="566928"/>
          </a:xfrm>
          <a:prstGeom prst="rect">
            <a:avLst/>
          </a:prstGeom>
          <a:solidFill>
            <a:srgbClr val="1C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365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D98A4B"/>
                </a:solidFill>
                <a:latin typeface="Segoe UI Semibold"/>
              </a:rPr>
              <a:t>PENDAHULUAN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566928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C6F8C"/>
                </a:solidFill>
                <a:latin typeface="Segoe UI Semibold"/>
              </a:rPr>
              <a:t>Latar Belakang &amp; Tujuan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188720"/>
            <a:ext cx="11094415" cy="16459"/>
          </a:xfrm>
          <a:prstGeom prst="rect">
            <a:avLst/>
          </a:prstGeom>
          <a:solidFill>
            <a:srgbClr val="E2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0" y="6364224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A70"/>
                </a:solidFill>
                <a:latin typeface="Segoe U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64224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A70"/>
                </a:solidFill>
                <a:latin typeface="Segoe UI"/>
              </a:rPr>
              <a:t>Final Project STI · Kelompok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41732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123A49"/>
                </a:solidFill>
                <a:latin typeface="Segoe UI"/>
              </a:rPr>
              <a:t>Tim mengangkat </a:t>
            </a:r>
            <a:r>
              <a:rPr sz="1450" b="1">
                <a:solidFill>
                  <a:srgbClr val="1C6F8C"/>
                </a:solidFill>
                <a:latin typeface="Segoe UI Semibold"/>
              </a:rPr>
              <a:t>dua studi kasus pengolahan data nyata</a:t>
            </a:r>
            <a:r>
              <a:rPr sz="1450" b="0">
                <a:solidFill>
                  <a:srgbClr val="123A49"/>
                </a:solidFill>
                <a:latin typeface="Segoe UI"/>
              </a:rPr>
              <a:t> dari lingkungan kerja anggota, lalu mengolahnya secara terstruktur (CRISP-DM) hingga menjadi dashboard pemantauan.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40280"/>
            <a:ext cx="4983480" cy="3840480"/>
          </a:xfrm>
          <a:prstGeom prst="roundRect">
            <a:avLst/>
          </a:prstGeom>
          <a:solidFill>
            <a:srgbClr val="F1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0" y="2240280"/>
            <a:ext cx="4983480" cy="109728"/>
          </a:xfrm>
          <a:prstGeom prst="roundRect">
            <a:avLst/>
          </a:prstGeom>
          <a:solidFill>
            <a:srgbClr val="1C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2487168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C6F8C"/>
                </a:solidFill>
                <a:latin typeface="Segoe UI Semibold"/>
              </a:rPr>
              <a:t>STUDI KASUS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761488"/>
            <a:ext cx="4389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23A49"/>
                </a:solidFill>
                <a:latin typeface="Segoe UI Semibold"/>
              </a:rPr>
              <a:t>Inventory Instrumen CGS-1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566160"/>
            <a:ext cx="43891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300" b="0">
                <a:solidFill>
                  <a:srgbClr val="1C6F8C"/>
                </a:solidFill>
                <a:latin typeface="Segoe UI"/>
              </a:rPr>
              <a:t>•  </a:t>
            </a:r>
            <a:r>
              <a:rPr sz="1300">
                <a:solidFill>
                  <a:srgbClr val="123A49"/>
                </a:solidFill>
                <a:latin typeface="Segoe UI"/>
              </a:rPr>
              <a:t>Monitoring kesiapan instrumen lapangan (transmitter, valve, actuator) pada Custody Gas Station.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300" b="0">
                <a:solidFill>
                  <a:srgbClr val="1C6F8C"/>
                </a:solidFill>
                <a:latin typeface="Segoe UI"/>
              </a:rPr>
              <a:t>•  </a:t>
            </a:r>
            <a:r>
              <a:rPr sz="1300">
                <a:solidFill>
                  <a:srgbClr val="123A49"/>
                </a:solidFill>
                <a:latin typeface="Segoe UI"/>
              </a:rPr>
              <a:t>Fokus: status aset, ketergantungan vendor, dan gap data kalibrasi (keselamatan &amp; kepatuhan).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300" b="0">
                <a:solidFill>
                  <a:srgbClr val="1C6F8C"/>
                </a:solidFill>
                <a:latin typeface="Segoe UI"/>
              </a:rPr>
              <a:t>•  </a:t>
            </a:r>
            <a:r>
              <a:rPr sz="1300">
                <a:solidFill>
                  <a:srgbClr val="123A49"/>
                </a:solidFill>
                <a:latin typeface="Segoe UI"/>
              </a:rPr>
              <a:t>Output: dashboard Looker Studio.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2240280"/>
            <a:ext cx="4983480" cy="3840480"/>
          </a:xfrm>
          <a:prstGeom prst="roundRect">
            <a:avLst/>
          </a:prstGeom>
          <a:solidFill>
            <a:srgbClr val="F1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0" y="2240280"/>
            <a:ext cx="4983480" cy="109728"/>
          </a:xfrm>
          <a:prstGeom prst="roundRect">
            <a:avLst/>
          </a:prstGeom>
          <a:solidFill>
            <a:srgbClr val="2E8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20840" y="2487168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E8B6F"/>
                </a:solidFill>
                <a:latin typeface="Segoe UI Semibold"/>
              </a:rPr>
              <a:t>STUDI KASUS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2761488"/>
            <a:ext cx="4389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23A49"/>
                </a:solidFill>
                <a:latin typeface="Segoe UI Semibold"/>
              </a:rPr>
              <a:t>Kinerja Penjualan Ritel Online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3566160"/>
            <a:ext cx="43891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300" b="0">
                <a:solidFill>
                  <a:srgbClr val="2E8B6F"/>
                </a:solidFill>
                <a:latin typeface="Segoe UI"/>
              </a:rPr>
              <a:t>•  </a:t>
            </a:r>
            <a:r>
              <a:rPr sz="1300">
                <a:solidFill>
                  <a:srgbClr val="123A49"/>
                </a:solidFill>
                <a:latin typeface="Segoe UI"/>
              </a:rPr>
              <a:t>Data penjualan B2C agregat mingguan, 2022–2026 (~3,5 tahun).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300" b="0">
                <a:solidFill>
                  <a:srgbClr val="2E8B6F"/>
                </a:solidFill>
                <a:latin typeface="Segoe UI"/>
              </a:rPr>
              <a:t>•  </a:t>
            </a:r>
            <a:r>
              <a:rPr sz="1300">
                <a:solidFill>
                  <a:srgbClr val="123A49"/>
                </a:solidFill>
                <a:latin typeface="Segoe UI"/>
              </a:rPr>
              <a:t>Fokus: tren &amp; pertumbuhan, pendorong revenue, pola musiman, efektivitas diskon.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300" b="0">
                <a:solidFill>
                  <a:srgbClr val="2E8B6F"/>
                </a:solidFill>
                <a:latin typeface="Segoe UI"/>
              </a:rPr>
              <a:t>•  </a:t>
            </a:r>
            <a:r>
              <a:rPr sz="1300">
                <a:solidFill>
                  <a:srgbClr val="123A49"/>
                </a:solidFill>
                <a:latin typeface="Segoe UI"/>
              </a:rPr>
              <a:t>Output: dashboard interaktif Plotly.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420624"/>
            <a:ext cx="128016" cy="566928"/>
          </a:xfrm>
          <a:prstGeom prst="rect">
            <a:avLst/>
          </a:prstGeom>
          <a:solidFill>
            <a:srgbClr val="1C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365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D98A4B"/>
                </a:solidFill>
                <a:latin typeface="Segoe UI Semibold"/>
              </a:rPr>
              <a:t>METODOLOGI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566928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C6F8C"/>
                </a:solidFill>
                <a:latin typeface="Segoe UI Semibold"/>
              </a:rPr>
              <a:t>Kerangka Kerja CRISP-DM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188720"/>
            <a:ext cx="11094415" cy="16459"/>
          </a:xfrm>
          <a:prstGeom prst="rect">
            <a:avLst/>
          </a:prstGeom>
          <a:solidFill>
            <a:srgbClr val="E2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0" y="6364224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A70"/>
                </a:solidFill>
                <a:latin typeface="Segoe UI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64224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A70"/>
                </a:solidFill>
                <a:latin typeface="Segoe UI"/>
              </a:rPr>
              <a:t>Final Project STI · Kelompok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3716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A6A70"/>
                </a:solidFill>
                <a:latin typeface="Segoe UI"/>
              </a:rPr>
              <a:t>Setiap studi kasus mengikuti enam fase CRISP-DM secara berurutan, dari pemahaman bisnis hingga deployment dashboard.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40280"/>
            <a:ext cx="1700784" cy="2286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E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371600" y="2496312"/>
            <a:ext cx="603504" cy="603504"/>
          </a:xfrm>
          <a:prstGeom prst="ellipse">
            <a:avLst/>
          </a:prstGeom>
          <a:solidFill>
            <a:srgbClr val="1C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2514600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227832"/>
            <a:ext cx="151790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23A49"/>
                </a:solidFill>
                <a:latin typeface="Segoe UI Semibold"/>
              </a:rPr>
              <a:t>Business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23A49"/>
                </a:solidFill>
                <a:latin typeface="Segoe UI Semibold"/>
              </a:rPr>
              <a:t>Understanding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4023360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6A70"/>
                </a:solidFill>
                <a:latin typeface="Segoe UI"/>
              </a:rPr>
              <a:t>Tujuan &amp; business questions</a:t>
            </a:r>
          </a:p>
        </p:txBody>
      </p:sp>
      <p:sp>
        <p:nvSpPr>
          <p:cNvPr id="16" name="Chevron 15"/>
          <p:cNvSpPr/>
          <p:nvPr/>
        </p:nvSpPr>
        <p:spPr>
          <a:xfrm>
            <a:off x="2528316" y="3200400"/>
            <a:ext cx="137160" cy="109728"/>
          </a:xfrm>
          <a:prstGeom prst="chevron">
            <a:avLst/>
          </a:prstGeom>
          <a:solidFill>
            <a:srgbClr val="9EC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642616" y="2240280"/>
            <a:ext cx="1700784" cy="2286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E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191256" y="2496312"/>
            <a:ext cx="603504" cy="603504"/>
          </a:xfrm>
          <a:prstGeom prst="ellipse">
            <a:avLst/>
          </a:prstGeom>
          <a:solidFill>
            <a:srgbClr val="1C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91256" y="2514600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34056" y="3227832"/>
            <a:ext cx="151790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23A49"/>
                </a:solidFill>
                <a:latin typeface="Segoe UI Semibold"/>
              </a:rPr>
              <a:t>Data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23A49"/>
                </a:solidFill>
                <a:latin typeface="Segoe UI Semibold"/>
              </a:rPr>
              <a:t>Understanding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52344" y="4023360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6A70"/>
                </a:solidFill>
                <a:latin typeface="Segoe UI"/>
              </a:rPr>
              <a:t>Load data, profil kualitas</a:t>
            </a:r>
          </a:p>
        </p:txBody>
      </p:sp>
      <p:sp>
        <p:nvSpPr>
          <p:cNvPr id="22" name="Chevron 21"/>
          <p:cNvSpPr/>
          <p:nvPr/>
        </p:nvSpPr>
        <p:spPr>
          <a:xfrm>
            <a:off x="4347972" y="3200400"/>
            <a:ext cx="137160" cy="109728"/>
          </a:xfrm>
          <a:prstGeom prst="chevron">
            <a:avLst/>
          </a:prstGeom>
          <a:solidFill>
            <a:srgbClr val="9EC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462272" y="2240280"/>
            <a:ext cx="1700784" cy="2286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E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010912" y="2496312"/>
            <a:ext cx="603504" cy="603504"/>
          </a:xfrm>
          <a:prstGeom prst="ellipse">
            <a:avLst/>
          </a:prstGeom>
          <a:solidFill>
            <a:srgbClr val="1C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10912" y="2514600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53712" y="3227832"/>
            <a:ext cx="151790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23A49"/>
                </a:solidFill>
                <a:latin typeface="Segoe UI Semibold"/>
              </a:rPr>
              <a:t>Data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23A49"/>
                </a:solidFill>
                <a:latin typeface="Segoe UI Semibold"/>
              </a:rPr>
              <a:t>Preparation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4023360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6A70"/>
                </a:solidFill>
                <a:latin typeface="Segoe UI"/>
              </a:rPr>
              <a:t>Cleaning, kolom turunan (KPI)</a:t>
            </a:r>
          </a:p>
        </p:txBody>
      </p:sp>
      <p:sp>
        <p:nvSpPr>
          <p:cNvPr id="28" name="Chevron 27"/>
          <p:cNvSpPr/>
          <p:nvPr/>
        </p:nvSpPr>
        <p:spPr>
          <a:xfrm>
            <a:off x="6167628" y="3200400"/>
            <a:ext cx="137160" cy="109728"/>
          </a:xfrm>
          <a:prstGeom prst="chevron">
            <a:avLst/>
          </a:prstGeom>
          <a:solidFill>
            <a:srgbClr val="9EC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81928" y="2240280"/>
            <a:ext cx="1700784" cy="2286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E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830568" y="2496312"/>
            <a:ext cx="603504" cy="603504"/>
          </a:xfrm>
          <a:prstGeom prst="ellipse">
            <a:avLst/>
          </a:prstGeom>
          <a:solidFill>
            <a:srgbClr val="2E8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30568" y="2514600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3368" y="3227832"/>
            <a:ext cx="151790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23A49"/>
                </a:solidFill>
                <a:latin typeface="Segoe UI Semibold"/>
              </a:rPr>
              <a:t>Modeling /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23A49"/>
                </a:solidFill>
                <a:latin typeface="Segoe UI Semibold"/>
              </a:rPr>
              <a:t>Analisis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91656" y="4023360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6A70"/>
                </a:solidFill>
                <a:latin typeface="Segoe UI"/>
              </a:rPr>
              <a:t>Agregasi &amp; visualisasi</a:t>
            </a:r>
          </a:p>
        </p:txBody>
      </p:sp>
      <p:sp>
        <p:nvSpPr>
          <p:cNvPr id="34" name="Chevron 33"/>
          <p:cNvSpPr/>
          <p:nvPr/>
        </p:nvSpPr>
        <p:spPr>
          <a:xfrm>
            <a:off x="7987284" y="3200400"/>
            <a:ext cx="137160" cy="109728"/>
          </a:xfrm>
          <a:prstGeom prst="chevron">
            <a:avLst/>
          </a:prstGeom>
          <a:solidFill>
            <a:srgbClr val="9EC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101584" y="2240280"/>
            <a:ext cx="1700784" cy="2286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E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650224" y="2496312"/>
            <a:ext cx="603504" cy="603504"/>
          </a:xfrm>
          <a:prstGeom prst="ellipse">
            <a:avLst/>
          </a:prstGeom>
          <a:solidFill>
            <a:srgbClr val="2E8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50224" y="2514600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93024" y="3227832"/>
            <a:ext cx="151790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23A49"/>
                </a:solidFill>
                <a:latin typeface="Segoe UI Semibold"/>
              </a:rPr>
              <a:t>Evaluation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11312" y="4023360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6A70"/>
                </a:solidFill>
                <a:latin typeface="Segoe UI"/>
              </a:rPr>
              <a:t>Temuan &amp; rekomendasi</a:t>
            </a:r>
          </a:p>
        </p:txBody>
      </p:sp>
      <p:sp>
        <p:nvSpPr>
          <p:cNvPr id="40" name="Chevron 39"/>
          <p:cNvSpPr/>
          <p:nvPr/>
        </p:nvSpPr>
        <p:spPr>
          <a:xfrm>
            <a:off x="9806940" y="3200400"/>
            <a:ext cx="137160" cy="109728"/>
          </a:xfrm>
          <a:prstGeom prst="chevron">
            <a:avLst/>
          </a:prstGeom>
          <a:solidFill>
            <a:srgbClr val="9EC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9921240" y="2240280"/>
            <a:ext cx="1700784" cy="2286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E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0469880" y="2496312"/>
            <a:ext cx="603504" cy="603504"/>
          </a:xfrm>
          <a:prstGeom prst="ellipse">
            <a:avLst/>
          </a:prstGeom>
          <a:solidFill>
            <a:srgbClr val="D98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469880" y="2514600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Segoe UI Semibold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12680" y="3227832"/>
            <a:ext cx="151790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23A49"/>
                </a:solidFill>
                <a:latin typeface="Segoe UI Semibold"/>
              </a:rPr>
              <a:t>Deployment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30968" y="4023360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6A70"/>
                </a:solidFill>
                <a:latin typeface="Segoe UI"/>
              </a:rPr>
              <a:t>Dashboard monitoring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48006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A70"/>
                </a:solidFill>
                <a:latin typeface="Segoe UI"/>
              </a:rPr>
              <a:t>Pendekatan ini memastikan analisis selalu berangkat dari pertanyaan bisnis dan diakhiri dengan artefak yang dapat dipantau, bukan sekadar grafik lepas.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420624"/>
            <a:ext cx="128016" cy="566928"/>
          </a:xfrm>
          <a:prstGeom prst="rect">
            <a:avLst/>
          </a:prstGeom>
          <a:solidFill>
            <a:srgbClr val="1C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365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D98A4B"/>
                </a:solidFill>
                <a:latin typeface="Segoe UI Semibold"/>
              </a:rPr>
              <a:t>MANAJEMEN PROYEK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566928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C6F8C"/>
                </a:solidFill>
                <a:latin typeface="Segoe UI Semibold"/>
              </a:rPr>
              <a:t>Pelacakan Pekerjaan dengan GitHub Projects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188720"/>
            <a:ext cx="11094415" cy="16459"/>
          </a:xfrm>
          <a:prstGeom prst="rect">
            <a:avLst/>
          </a:prstGeom>
          <a:solidFill>
            <a:srgbClr val="E2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0" y="6364224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A70"/>
                </a:solidFill>
                <a:latin typeface="Segoe UI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64224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A70"/>
                </a:solidFill>
                <a:latin typeface="Segoe UI"/>
              </a:rPr>
              <a:t>Final Project STI · Kelompok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371600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123A49"/>
                </a:solidFill>
                <a:latin typeface="Segoe UI"/>
              </a:rPr>
              <a:t>Pekerjaan kelompok dikelola pada </a:t>
            </a:r>
            <a:r>
              <a:rPr sz="1450" b="1">
                <a:solidFill>
                  <a:srgbClr val="1C6F8C"/>
                </a:solidFill>
                <a:latin typeface="Segoe UI Semibold"/>
              </a:rPr>
              <a:t>board kanban GitHub Projects</a:t>
            </a:r>
            <a:r>
              <a:rPr sz="1450" b="0">
                <a:solidFill>
                  <a:srgbClr val="123A49"/>
                </a:solidFill>
                <a:latin typeface="Segoe UI"/>
              </a:rPr>
              <a:t>, dengan setiap fase CRISP-DM dari kedua studi kasus dipecah menjadi kartu tugas dan dilacak melalui kolom </a:t>
            </a:r>
            <a:r>
              <a:rPr sz="1450" b="1">
                <a:solidFill>
                  <a:srgbClr val="2E8B6F"/>
                </a:solidFill>
                <a:latin typeface="Segoe UI Semibold"/>
              </a:rPr>
              <a:t>Todo → In Progress → Done</a:t>
            </a:r>
            <a:r>
              <a:rPr sz="1450" b="0">
                <a:solidFill>
                  <a:srgbClr val="123A49"/>
                </a:solidFill>
                <a:latin typeface="Segoe UI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423160"/>
            <a:ext cx="3456432" cy="1554480"/>
          </a:xfrm>
          <a:prstGeom prst="roundRect">
            <a:avLst/>
          </a:prstGeom>
          <a:solidFill>
            <a:srgbClr val="F1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15568" y="2697480"/>
            <a:ext cx="457200" cy="73152"/>
          </a:xfrm>
          <a:prstGeom prst="rect">
            <a:avLst/>
          </a:prstGeom>
          <a:solidFill>
            <a:srgbClr val="D98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2852928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C6F8C"/>
                </a:solidFill>
                <a:latin typeface="Segoe UI Semibold"/>
              </a:rPr>
              <a:t>Transparansi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246120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A70"/>
                </a:solidFill>
                <a:latin typeface="Segoe UI"/>
              </a:rPr>
              <a:t>Status tiap pekerjaan terlihat satu layar, tidak ada tugas yang “hilang”.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53128" y="2423160"/>
            <a:ext cx="3456432" cy="1554480"/>
          </a:xfrm>
          <a:prstGeom prst="roundRect">
            <a:avLst/>
          </a:prstGeom>
          <a:solidFill>
            <a:srgbClr val="F1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45736" y="2697480"/>
            <a:ext cx="457200" cy="73152"/>
          </a:xfrm>
          <a:prstGeom prst="rect">
            <a:avLst/>
          </a:prstGeom>
          <a:solidFill>
            <a:srgbClr val="D98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45736" y="2852928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C6F8C"/>
                </a:solidFill>
                <a:latin typeface="Segoe UI Semibold"/>
              </a:rPr>
              <a:t>Akuntabilitas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45736" y="3246120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A70"/>
                </a:solidFill>
                <a:latin typeface="Segoe UI"/>
              </a:rPr>
              <a:t>Pemecahan tugas yang jelas memudahkan pembagian kerja antar anggota.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2423160"/>
            <a:ext cx="3456432" cy="1554480"/>
          </a:xfrm>
          <a:prstGeom prst="roundRect">
            <a:avLst/>
          </a:prstGeom>
          <a:solidFill>
            <a:srgbClr val="F1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375904" y="2697480"/>
            <a:ext cx="457200" cy="73152"/>
          </a:xfrm>
          <a:prstGeom prst="rect">
            <a:avLst/>
          </a:prstGeom>
          <a:solidFill>
            <a:srgbClr val="D98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5904" y="2852928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C6F8C"/>
                </a:solidFill>
                <a:latin typeface="Segoe UI Semibold"/>
              </a:rPr>
              <a:t>Keterlacakan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5904" y="3246120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A70"/>
                </a:solidFill>
                <a:latin typeface="Segoe UI"/>
              </a:rPr>
              <a:t>Progres terukur (12 selesai, 2 berjalan, 2 antre) dan terhubung ke repositori kode.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297680"/>
            <a:ext cx="10543032" cy="1417320"/>
          </a:xfrm>
          <a:prstGeom prst="roundRect">
            <a:avLst/>
          </a:prstGeom>
          <a:solidFill>
            <a:srgbClr val="123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44805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98A4B"/>
                </a:solidFill>
                <a:latin typeface="Segoe UI Semibold"/>
              </a:rPr>
              <a:t>TAUTAN PROYEK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480060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9ECAE1"/>
                </a:solidFill>
                <a:latin typeface="Segoe UI Semibold"/>
              </a:rPr>
              <a:t>Repository : </a:t>
            </a:r>
            <a:r>
              <a:rPr sz="1400" b="0">
                <a:solidFill>
                  <a:srgbClr val="FFFFFF"/>
                </a:solidFill>
                <a:latin typeface="Segoe UI"/>
              </a:rPr>
              <a:t>github.com/sianida26/sti-final-project-kel5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5193792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9ECAE1"/>
                </a:solidFill>
                <a:latin typeface="Segoe UI Semibold"/>
              </a:rPr>
              <a:t>Board       : </a:t>
            </a:r>
            <a:r>
              <a:rPr sz="1400" b="0">
                <a:solidFill>
                  <a:srgbClr val="FFFFFF"/>
                </a:solidFill>
                <a:latin typeface="Segoe UI"/>
              </a:rPr>
              <a:t>github.com/users/sianida26/projects/2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420624"/>
            <a:ext cx="128016" cy="566928"/>
          </a:xfrm>
          <a:prstGeom prst="rect">
            <a:avLst/>
          </a:prstGeom>
          <a:solidFill>
            <a:srgbClr val="1C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365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D98A4B"/>
                </a:solidFill>
                <a:latin typeface="Segoe UI Semibold"/>
              </a:rPr>
              <a:t>MANAJEMEN PROYEK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566928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C6F8C"/>
                </a:solidFill>
                <a:latin typeface="Segoe UI Semibold"/>
              </a:rPr>
              <a:t>Board Kanban: Status Pekerjaan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188720"/>
            <a:ext cx="11094415" cy="16459"/>
          </a:xfrm>
          <a:prstGeom prst="rect">
            <a:avLst/>
          </a:prstGeom>
          <a:solidFill>
            <a:srgbClr val="E2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0" y="6364224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A70"/>
                </a:solidFill>
                <a:latin typeface="Segoe UI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64224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A70"/>
                </a:solidFill>
                <a:latin typeface="Segoe UI"/>
              </a:rPr>
              <a:t>Final Project STI · Kelompok 5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71600"/>
            <a:ext cx="5008969" cy="4800600"/>
          </a:xfrm>
          <a:prstGeom prst="rect">
            <a:avLst/>
          </a:prstGeom>
          <a:noFill/>
          <a:ln w="15240">
            <a:solidFill>
              <a:srgbClr val="E2EE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17320"/>
            <a:ext cx="4917529" cy="47091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503920" y="155448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98A4B"/>
                </a:solidFill>
                <a:latin typeface="Segoe UI Semibold"/>
              </a:rPr>
              <a:t>RINGKASAN STATUS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03920" y="1965960"/>
            <a:ext cx="3154680" cy="841248"/>
          </a:xfrm>
          <a:prstGeom prst="roundRect">
            <a:avLst/>
          </a:prstGeom>
          <a:solidFill>
            <a:srgbClr val="F1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503920" y="1965960"/>
            <a:ext cx="109728" cy="841248"/>
          </a:xfrm>
          <a:prstGeom prst="roundRect">
            <a:avLst/>
          </a:prstGeom>
          <a:solidFill>
            <a:srgbClr val="1C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23960" y="2002536"/>
            <a:ext cx="10058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C6F8C"/>
                </a:solidFill>
                <a:latin typeface="Segoe UI Semibold"/>
              </a:rP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0" y="2002536"/>
            <a:ext cx="17373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23A49"/>
                </a:solidFill>
                <a:latin typeface="Segoe UI Semibold"/>
              </a:rPr>
              <a:t>Done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03920" y="2935224"/>
            <a:ext cx="3154680" cy="841248"/>
          </a:xfrm>
          <a:prstGeom prst="roundRect">
            <a:avLst/>
          </a:prstGeom>
          <a:solidFill>
            <a:srgbClr val="F1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503920" y="2935224"/>
            <a:ext cx="109728" cy="841248"/>
          </a:xfrm>
          <a:prstGeom prst="roundRect">
            <a:avLst/>
          </a:prstGeom>
          <a:solidFill>
            <a:srgbClr val="D98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23960" y="2971800"/>
            <a:ext cx="10058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D98A4B"/>
                </a:solidFill>
                <a:latin typeface="Segoe UI Semibol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2971800"/>
            <a:ext cx="17373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23A49"/>
                </a:solidFill>
                <a:latin typeface="Segoe UI Semibold"/>
              </a:rPr>
              <a:t>In Progress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503920" y="3904487"/>
            <a:ext cx="3154680" cy="841248"/>
          </a:xfrm>
          <a:prstGeom prst="roundRect">
            <a:avLst/>
          </a:prstGeom>
          <a:solidFill>
            <a:srgbClr val="F1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503920" y="3904487"/>
            <a:ext cx="109728" cy="841248"/>
          </a:xfrm>
          <a:prstGeom prst="roundRect">
            <a:avLst/>
          </a:prstGeom>
          <a:solidFill>
            <a:srgbClr val="5A6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23960" y="3941063"/>
            <a:ext cx="10058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5A6A70"/>
                </a:solidFill>
                <a:latin typeface="Segoe UI Semibold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0" y="3941063"/>
            <a:ext cx="17373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23A49"/>
                </a:solidFill>
                <a:latin typeface="Segoe UI Semibold"/>
              </a:rPr>
              <a:t>Todo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4965192"/>
            <a:ext cx="31546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C6F8C"/>
                </a:solidFill>
                <a:latin typeface="Segoe UI Semibold"/>
              </a:rPr>
              <a:t>16 kartu total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5A6A70"/>
                </a:solidFill>
                <a:latin typeface="Segoe UI"/>
              </a:rPr>
              <a:t>Kartu = fase CRISP-DM kedua studi kasus + setup, dokumentasi, dan pengumpulan.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420624"/>
            <a:ext cx="128016" cy="566928"/>
          </a:xfrm>
          <a:prstGeom prst="rect">
            <a:avLst/>
          </a:prstGeom>
          <a:solidFill>
            <a:srgbClr val="1C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365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D98A4B"/>
                </a:solidFill>
                <a:latin typeface="Segoe UI Semibold"/>
              </a:rPr>
              <a:t>MANAJEMEN PROYEK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566928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C6F8C"/>
                </a:solidFill>
                <a:latin typeface="Segoe UI Semibold"/>
              </a:rPr>
              <a:t>Pemetaan Tugas ke Fase CRISP-DM (WBS)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188720"/>
            <a:ext cx="11094415" cy="16459"/>
          </a:xfrm>
          <a:prstGeom prst="rect">
            <a:avLst/>
          </a:prstGeom>
          <a:solidFill>
            <a:srgbClr val="E2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0" y="6364224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A70"/>
                </a:solidFill>
                <a:latin typeface="Segoe UI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64224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A70"/>
                </a:solidFill>
                <a:latin typeface="Segoe UI"/>
              </a:rPr>
              <a:t>Final Project STI · Kelompok 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554480"/>
            <a:ext cx="3657600" cy="658368"/>
          </a:xfrm>
          <a:prstGeom prst="rect">
            <a:avLst/>
          </a:prstGeom>
          <a:solidFill>
            <a:srgbClr val="1C6F8C"/>
          </a:solidFill>
          <a:ln w="9525">
            <a:solidFill>
              <a:srgbClr val="E2EE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1554480"/>
            <a:ext cx="33832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 Semibold"/>
              </a:rPr>
              <a:t>Fase CRISP-DM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554480"/>
            <a:ext cx="3520440" cy="658368"/>
          </a:xfrm>
          <a:prstGeom prst="rect">
            <a:avLst/>
          </a:prstGeom>
          <a:solidFill>
            <a:srgbClr val="1C6F8C"/>
          </a:solidFill>
          <a:ln w="9525">
            <a:solidFill>
              <a:srgbClr val="E2EE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5152" y="1554480"/>
            <a:ext cx="3246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 Semibold"/>
              </a:rPr>
              <a:t>Inventory CGS-1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01000" y="1554480"/>
            <a:ext cx="3456432" cy="658368"/>
          </a:xfrm>
          <a:prstGeom prst="rect">
            <a:avLst/>
          </a:prstGeom>
          <a:solidFill>
            <a:srgbClr val="1C6F8C"/>
          </a:solidFill>
          <a:ln w="9525">
            <a:solidFill>
              <a:srgbClr val="E2EE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65592" y="1554480"/>
            <a:ext cx="3182112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 Semibold"/>
              </a:rPr>
              <a:t>Penjualan Ritel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2212848"/>
            <a:ext cx="3657600" cy="658368"/>
          </a:xfrm>
          <a:prstGeom prst="rect">
            <a:avLst/>
          </a:prstGeom>
          <a:solidFill>
            <a:srgbClr val="F1F6F8"/>
          </a:solidFill>
          <a:ln w="9525">
            <a:solidFill>
              <a:srgbClr val="E2EE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2212848"/>
            <a:ext cx="33832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C6F8C"/>
                </a:solidFill>
                <a:latin typeface="Segoe UI Semibold"/>
              </a:rPr>
              <a:t>Business Understanding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60" y="2212848"/>
            <a:ext cx="3520440" cy="658368"/>
          </a:xfrm>
          <a:prstGeom prst="rect">
            <a:avLst/>
          </a:prstGeom>
          <a:solidFill>
            <a:srgbClr val="F1F6F8"/>
          </a:solidFill>
          <a:ln w="9525">
            <a:solidFill>
              <a:srgbClr val="E2EE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45152" y="2212848"/>
            <a:ext cx="3246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23A49"/>
                </a:solidFill>
                <a:latin typeface="Segoe UI"/>
              </a:rPr>
              <a:t>Definisi 3 business question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1000" y="2212848"/>
            <a:ext cx="3456432" cy="658368"/>
          </a:xfrm>
          <a:prstGeom prst="rect">
            <a:avLst/>
          </a:prstGeom>
          <a:solidFill>
            <a:srgbClr val="F1F6F8"/>
          </a:solidFill>
          <a:ln w="9525">
            <a:solidFill>
              <a:srgbClr val="E2EE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65592" y="2212848"/>
            <a:ext cx="3182112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23A49"/>
                </a:solidFill>
                <a:latin typeface="Segoe UI"/>
              </a:rPr>
              <a:t>Definisi 4 business question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2871215"/>
            <a:ext cx="36576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E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2871215"/>
            <a:ext cx="33832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C6F8C"/>
                </a:solidFill>
                <a:latin typeface="Segoe UI Semibold"/>
              </a:rPr>
              <a:t>Data Understanding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80560" y="2871215"/>
            <a:ext cx="352044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E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45152" y="2871215"/>
            <a:ext cx="3246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23A49"/>
                </a:solidFill>
                <a:latin typeface="Segoe UI"/>
              </a:rPr>
              <a:t>Load Excel, profil missing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01000" y="2871215"/>
            <a:ext cx="345643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E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65592" y="2871215"/>
            <a:ext cx="3182112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23A49"/>
                </a:solidFill>
                <a:latin typeface="Segoe UI"/>
              </a:rPr>
              <a:t>Ingest data mingguan, kamus data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3529583"/>
            <a:ext cx="3657600" cy="658368"/>
          </a:xfrm>
          <a:prstGeom prst="rect">
            <a:avLst/>
          </a:prstGeom>
          <a:solidFill>
            <a:srgbClr val="F1F6F8"/>
          </a:solidFill>
          <a:ln w="9525">
            <a:solidFill>
              <a:srgbClr val="E2EE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7552" y="3529583"/>
            <a:ext cx="33832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C6F8C"/>
                </a:solidFill>
                <a:latin typeface="Segoe UI Semibold"/>
              </a:rPr>
              <a:t>Data Preparation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80560" y="3529583"/>
            <a:ext cx="3520440" cy="658368"/>
          </a:xfrm>
          <a:prstGeom prst="rect">
            <a:avLst/>
          </a:prstGeom>
          <a:solidFill>
            <a:srgbClr val="F1F6F8"/>
          </a:solidFill>
          <a:ln w="9525">
            <a:solidFill>
              <a:srgbClr val="E2EE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45152" y="3529583"/>
            <a:ext cx="3246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23A49"/>
                </a:solidFill>
                <a:latin typeface="Segoe UI"/>
              </a:rPr>
              <a:t>Cleaning, flag kalibrasi/serial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01000" y="3529583"/>
            <a:ext cx="3456432" cy="658368"/>
          </a:xfrm>
          <a:prstGeom prst="rect">
            <a:avLst/>
          </a:prstGeom>
          <a:solidFill>
            <a:srgbClr val="F1F6F8"/>
          </a:solidFill>
          <a:ln w="9525">
            <a:solidFill>
              <a:srgbClr val="E2EE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65592" y="3529583"/>
            <a:ext cx="3182112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23A49"/>
                </a:solidFill>
                <a:latin typeface="Segoe UI"/>
              </a:rPr>
              <a:t>KPI turunan: AOV, MA, disc%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4187951"/>
            <a:ext cx="36576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E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7552" y="4187951"/>
            <a:ext cx="33832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C6F8C"/>
                </a:solidFill>
                <a:latin typeface="Segoe UI Semibold"/>
              </a:rPr>
              <a:t>Modeling / Analisis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80560" y="4187951"/>
            <a:ext cx="352044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E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645152" y="4187951"/>
            <a:ext cx="3246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23A49"/>
                </a:solidFill>
                <a:latin typeface="Segoe UI"/>
              </a:rPr>
              <a:t>Status, vendor, coverage kalibrasi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01000" y="4187951"/>
            <a:ext cx="345643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E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65592" y="4187951"/>
            <a:ext cx="3182112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23A49"/>
                </a:solidFill>
                <a:latin typeface="Segoe UI"/>
              </a:rPr>
              <a:t>Tren, musiman, AOV, diskon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" y="4846319"/>
            <a:ext cx="3657600" cy="658368"/>
          </a:xfrm>
          <a:prstGeom prst="rect">
            <a:avLst/>
          </a:prstGeom>
          <a:solidFill>
            <a:srgbClr val="F1F6F8"/>
          </a:solidFill>
          <a:ln w="9525">
            <a:solidFill>
              <a:srgbClr val="E2EE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7552" y="4846319"/>
            <a:ext cx="33832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C6F8C"/>
                </a:solidFill>
                <a:latin typeface="Segoe UI Semibold"/>
              </a:rPr>
              <a:t>Evaluation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480560" y="4846319"/>
            <a:ext cx="3520440" cy="658368"/>
          </a:xfrm>
          <a:prstGeom prst="rect">
            <a:avLst/>
          </a:prstGeom>
          <a:solidFill>
            <a:srgbClr val="F1F6F8"/>
          </a:solidFill>
          <a:ln w="9525">
            <a:solidFill>
              <a:srgbClr val="E2EE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45152" y="4846319"/>
            <a:ext cx="3246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23A49"/>
                </a:solidFill>
                <a:latin typeface="Segoe UI"/>
              </a:rPr>
              <a:t>Gap kalibrasi, watchlist aset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01000" y="4846319"/>
            <a:ext cx="3456432" cy="658368"/>
          </a:xfrm>
          <a:prstGeom prst="rect">
            <a:avLst/>
          </a:prstGeom>
          <a:solidFill>
            <a:srgbClr val="F1F6F8"/>
          </a:solidFill>
          <a:ln w="9525">
            <a:solidFill>
              <a:srgbClr val="E2EE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65592" y="4846319"/>
            <a:ext cx="3182112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23A49"/>
                </a:solidFill>
                <a:latin typeface="Segoe UI"/>
              </a:rPr>
              <a:t>Pertumbuhan, over-discounting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22960" y="5504687"/>
            <a:ext cx="36576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E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" y="5504687"/>
            <a:ext cx="33832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C6F8C"/>
                </a:solidFill>
                <a:latin typeface="Segoe UI Semibold"/>
              </a:rPr>
              <a:t>Deployment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80560" y="5504687"/>
            <a:ext cx="352044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E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645152" y="5504687"/>
            <a:ext cx="3246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23A49"/>
                </a:solidFill>
                <a:latin typeface="Segoe UI"/>
              </a:rPr>
              <a:t>Dashboard Looker Studio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001000" y="5504687"/>
            <a:ext cx="345643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E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65592" y="5504687"/>
            <a:ext cx="3182112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23A49"/>
                </a:solidFill>
                <a:latin typeface="Segoe UI"/>
              </a:rPr>
              <a:t>Dashboard Plotly interaktif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420624"/>
            <a:ext cx="128016" cy="566928"/>
          </a:xfrm>
          <a:prstGeom prst="rect">
            <a:avLst/>
          </a:prstGeom>
          <a:solidFill>
            <a:srgbClr val="1C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365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D98A4B"/>
                </a:solidFill>
                <a:latin typeface="Segoe UI Semibold"/>
              </a:rPr>
              <a:t>STUDI KASUS 1 · INVENTORY CGS-1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566928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C6F8C"/>
                </a:solidFill>
                <a:latin typeface="Segoe UI Semibold"/>
              </a:rPr>
              <a:t>Konteks &amp; Business Questions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188720"/>
            <a:ext cx="11094415" cy="16459"/>
          </a:xfrm>
          <a:prstGeom prst="rect">
            <a:avLst/>
          </a:prstGeom>
          <a:solidFill>
            <a:srgbClr val="E2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0" y="6364224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A70"/>
                </a:solidFill>
                <a:latin typeface="Segoe UI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64224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A70"/>
                </a:solidFill>
                <a:latin typeface="Segoe UI"/>
              </a:rPr>
              <a:t>Final Project STI · Kelompok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41732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C6F8C"/>
                </a:solidFill>
                <a:latin typeface="Segoe UI Semibold"/>
              </a:rPr>
              <a:t>CGS-1 (Custody Gas Station)</a:t>
            </a:r>
            <a:r>
              <a:rPr sz="1450" b="0">
                <a:solidFill>
                  <a:srgbClr val="123A49"/>
                </a:solidFill>
                <a:latin typeface="Segoe UI"/>
              </a:rPr>
              <a:t> memiliki sejumlah instrumen lapangan yang menopang keandalan, keselamatan, dan kepatuhan operasi. Data instrumen tersedia namun belum diolah dan kualitasnya belum dievaluasi.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514600"/>
            <a:ext cx="10543032" cy="45720"/>
          </a:xfrm>
          <a:prstGeom prst="rect">
            <a:avLst/>
          </a:prstGeom>
          <a:solidFill>
            <a:srgbClr val="E2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0" y="2834640"/>
            <a:ext cx="914400" cy="914400"/>
          </a:xfrm>
          <a:prstGeom prst="roundRect">
            <a:avLst/>
          </a:prstGeom>
          <a:solidFill>
            <a:srgbClr val="1C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852928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Segoe UI Semibold"/>
              </a:rPr>
              <a:t>Q1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2944368"/>
            <a:ext cx="9326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50" b="1">
                <a:solidFill>
                  <a:srgbClr val="123A49"/>
                </a:solidFill>
                <a:latin typeface="Segoe UI Semibold"/>
              </a:rPr>
              <a:t>Komposisi &amp; status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5A6A70"/>
                </a:solidFill>
                <a:latin typeface="Segoe UI"/>
              </a:rPr>
              <a:t>Bagaimana sebaran instrumen aktif vs tidak aktif?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913632"/>
            <a:ext cx="914400" cy="914400"/>
          </a:xfrm>
          <a:prstGeom prst="roundRect">
            <a:avLst/>
          </a:prstGeom>
          <a:solidFill>
            <a:srgbClr val="1C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93192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Segoe UI Semibold"/>
              </a:rPr>
              <a:t>Q2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4023360"/>
            <a:ext cx="9326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50" b="1">
                <a:solidFill>
                  <a:srgbClr val="123A49"/>
                </a:solidFill>
                <a:latin typeface="Segoe UI Semibold"/>
              </a:rPr>
              <a:t>Jenis &amp; vendor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5A6A70"/>
                </a:solidFill>
                <a:latin typeface="Segoe UI"/>
              </a:rPr>
              <a:t>Equipment class dan manufacturer apa yang dominan (ketergantungan vendor)?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992624"/>
            <a:ext cx="914400" cy="914400"/>
          </a:xfrm>
          <a:prstGeom prst="roundRect">
            <a:avLst/>
          </a:prstGeom>
          <a:solidFill>
            <a:srgbClr val="1C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010912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Segoe UI Semibold"/>
              </a:rPr>
              <a:t>Q3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5102352"/>
            <a:ext cx="9326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50" b="1">
                <a:solidFill>
                  <a:srgbClr val="123A49"/>
                </a:solidFill>
                <a:latin typeface="Segoe UI Semibold"/>
              </a:rPr>
              <a:t>Kelengkapan kalibrasi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5A6A70"/>
                </a:solidFill>
                <a:latin typeface="Segoe UI"/>
              </a:rPr>
              <a:t>Instrumen mana yang belum punya data kalibrasi (potensi gap keselamatan/kepatuhan)?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420624"/>
            <a:ext cx="128016" cy="566928"/>
          </a:xfrm>
          <a:prstGeom prst="rect">
            <a:avLst/>
          </a:prstGeom>
          <a:solidFill>
            <a:srgbClr val="1C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365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D98A4B"/>
                </a:solidFill>
                <a:latin typeface="Segoe UI Semibold"/>
              </a:rPr>
              <a:t>STUDI KASUS 1 · INVENTORY CGS-1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566928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C6F8C"/>
                </a:solidFill>
                <a:latin typeface="Segoe UI Semibold"/>
              </a:rPr>
              <a:t>Temuan &amp; Rekomendasi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188720"/>
            <a:ext cx="11094415" cy="16459"/>
          </a:xfrm>
          <a:prstGeom prst="rect">
            <a:avLst/>
          </a:prstGeom>
          <a:solidFill>
            <a:srgbClr val="E2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0" y="6364224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A70"/>
                </a:solidFill>
                <a:latin typeface="Segoe UI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64224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A70"/>
                </a:solidFill>
                <a:latin typeface="Segoe UI"/>
              </a:rPr>
              <a:t>Final Project STI · Kelompok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37160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98A4B"/>
                </a:solidFill>
                <a:latin typeface="Segoe UI Semibold"/>
              </a:rPr>
              <a:t>TEMUAN UTAMA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783080"/>
            <a:ext cx="521208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1100"/>
              </a:spcAft>
            </a:pPr>
            <a:r>
              <a:rPr sz="1350" b="0">
                <a:solidFill>
                  <a:srgbClr val="1C6F8C"/>
                </a:solidFill>
                <a:latin typeface="Segoe UI"/>
              </a:rPr>
              <a:t>•  </a:t>
            </a:r>
            <a:r>
              <a:rPr sz="1350">
                <a:solidFill>
                  <a:srgbClr val="123A49"/>
                </a:solidFill>
                <a:latin typeface="Segoe UI"/>
              </a:rPr>
              <a:t>Status: mayoritas instrumen Active (~94%), ketersediaan aset baik.</a:t>
            </a:r>
          </a:p>
          <a:p>
            <a:pPr>
              <a:lnSpc>
                <a:spcPct val="110000"/>
              </a:lnSpc>
              <a:spcAft>
                <a:spcPts val="1100"/>
              </a:spcAft>
            </a:pPr>
            <a:r>
              <a:rPr sz="1350" b="0">
                <a:solidFill>
                  <a:srgbClr val="1C6F8C"/>
                </a:solidFill>
                <a:latin typeface="Segoe UI"/>
              </a:rPr>
              <a:t>•  </a:t>
            </a:r>
            <a:r>
              <a:rPr sz="1350">
                <a:solidFill>
                  <a:srgbClr val="123A49"/>
                </a:solidFill>
                <a:latin typeface="Segoe UI"/>
              </a:rPr>
              <a:t>Komposisi didominasi Actuator &amp; Pressure Transmitter; vendor terkonsentrasi pada Rosemount &amp; Honeywell → ada ketergantungan vendor.</a:t>
            </a:r>
          </a:p>
          <a:p>
            <a:pPr>
              <a:lnSpc>
                <a:spcPct val="110000"/>
              </a:lnSpc>
              <a:spcAft>
                <a:spcPts val="1100"/>
              </a:spcAft>
            </a:pPr>
            <a:r>
              <a:rPr sz="1350" b="0">
                <a:solidFill>
                  <a:srgbClr val="1C6F8C"/>
                </a:solidFill>
                <a:latin typeface="Segoe UI"/>
              </a:rPr>
              <a:t>•  </a:t>
            </a:r>
            <a:r>
              <a:rPr sz="1350">
                <a:solidFill>
                  <a:srgbClr val="123A49"/>
                </a:solidFill>
                <a:latin typeface="Segoe UI"/>
              </a:rPr>
              <a:t>Insight utama: gap data kalibrasi signifikan; sebagian instrumen tidak memiliki Calibrate Range tercatat.</a:t>
            </a:r>
          </a:p>
          <a:p>
            <a:pPr>
              <a:lnSpc>
                <a:spcPct val="110000"/>
              </a:lnSpc>
              <a:spcAft>
                <a:spcPts val="1100"/>
              </a:spcAft>
            </a:pPr>
            <a:r>
              <a:rPr sz="1350" b="0">
                <a:solidFill>
                  <a:srgbClr val="1C6F8C"/>
                </a:solidFill>
                <a:latin typeface="Segoe UI"/>
              </a:rPr>
              <a:t>•  </a:t>
            </a:r>
            <a:r>
              <a:rPr sz="1350">
                <a:solidFill>
                  <a:srgbClr val="123A49"/>
                </a:solidFill>
                <a:latin typeface="Segoe UI"/>
              </a:rPr>
              <a:t>Instrumen Active tanpa data kalibrasi menjadi watchlist prioritas (risiko kepatuhan/keselamatan).</a:t>
            </a:r>
          </a:p>
          <a:p>
            <a:pPr>
              <a:lnSpc>
                <a:spcPct val="110000"/>
              </a:lnSpc>
              <a:spcAft>
                <a:spcPts val="1100"/>
              </a:spcAft>
            </a:pPr>
            <a:r>
              <a:rPr sz="1350" b="0">
                <a:solidFill>
                  <a:srgbClr val="1C6F8C"/>
                </a:solidFill>
                <a:latin typeface="Segoe UI"/>
              </a:rPr>
              <a:t>•  </a:t>
            </a:r>
            <a:r>
              <a:rPr sz="1350">
                <a:solidFill>
                  <a:srgbClr val="123A49"/>
                </a:solidFill>
                <a:latin typeface="Segoe UI"/>
              </a:rPr>
              <a:t>Sebagian Serial Number kosong → menyulitkan keterlacakan aset &amp; klaim garansi.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371600"/>
            <a:ext cx="4965192" cy="4617720"/>
          </a:xfrm>
          <a:prstGeom prst="roundRect">
            <a:avLst/>
          </a:prstGeom>
          <a:solidFill>
            <a:srgbClr val="F1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1600200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E8B6F"/>
                </a:solidFill>
                <a:latin typeface="Segoe UI Semibold"/>
              </a:rPr>
              <a:t>REKOMENDASI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2011680"/>
            <a:ext cx="438912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0">
                <a:solidFill>
                  <a:srgbClr val="2E8B6F"/>
                </a:solidFill>
                <a:latin typeface="Segoe UI"/>
              </a:rPr>
              <a:t>•  </a:t>
            </a:r>
            <a:r>
              <a:rPr sz="1300">
                <a:solidFill>
                  <a:srgbClr val="123A49"/>
                </a:solidFill>
                <a:latin typeface="Segoe UI"/>
              </a:rPr>
              <a:t>Lengkapi Calibrate Range &amp; Serial Number untuk instrumen prioritas (Active tanpa kalibrasi).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0">
                <a:solidFill>
                  <a:srgbClr val="2E8B6F"/>
                </a:solidFill>
                <a:latin typeface="Segoe UI"/>
              </a:rPr>
              <a:t>•  </a:t>
            </a:r>
            <a:r>
              <a:rPr sz="1300">
                <a:solidFill>
                  <a:srgbClr val="123A49"/>
                </a:solidFill>
                <a:latin typeface="Segoe UI"/>
              </a:rPr>
              <a:t>Jadikan % cakupan kalibrasi sebagai KPI monitoring berkala di dashboard.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0">
                <a:solidFill>
                  <a:srgbClr val="2E8B6F"/>
                </a:solidFill>
                <a:latin typeface="Segoe UI"/>
              </a:rPr>
              <a:t>•  </a:t>
            </a:r>
            <a:r>
              <a:rPr sz="1300">
                <a:solidFill>
                  <a:srgbClr val="123A49"/>
                </a:solidFill>
                <a:latin typeface="Segoe UI"/>
              </a:rPr>
              <a:t>Standardisasi input data di sumber untuk menghindari field kosong.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20840" y="4800600"/>
            <a:ext cx="42976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E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0" y="4919472"/>
            <a:ext cx="3931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D98A4B"/>
                </a:solidFill>
                <a:latin typeface="Segoe UI Semibold"/>
              </a:rPr>
              <a:t>Keterbatasan: </a:t>
            </a:r>
            <a:r>
              <a:rPr sz="1150" b="0">
                <a:solidFill>
                  <a:srgbClr val="5A6A70"/>
                </a:solidFill>
                <a:latin typeface="Segoe UI"/>
              </a:rPr>
              <a:t>sampel kecil (18 instrumen), satu area, snapshot satu waktu → analisis deskriptif, belum prediktif.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420624"/>
            <a:ext cx="128016" cy="566928"/>
          </a:xfrm>
          <a:prstGeom prst="rect">
            <a:avLst/>
          </a:prstGeom>
          <a:solidFill>
            <a:srgbClr val="1C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365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D98A4B"/>
                </a:solidFill>
                <a:latin typeface="Segoe UI Semibold"/>
              </a:rPr>
              <a:t>STUDI KASUS 2 · PENJUALAN RITEL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566928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C6F8C"/>
                </a:solidFill>
                <a:latin typeface="Segoe UI Semibold"/>
              </a:rPr>
              <a:t>Konteks &amp; Business Questions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188720"/>
            <a:ext cx="11094415" cy="16459"/>
          </a:xfrm>
          <a:prstGeom prst="rect">
            <a:avLst/>
          </a:prstGeom>
          <a:solidFill>
            <a:srgbClr val="E2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0" y="6364224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A70"/>
                </a:solidFill>
                <a:latin typeface="Segoe UI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64224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A70"/>
                </a:solidFill>
                <a:latin typeface="Segoe UI"/>
              </a:rPr>
              <a:t>Final Project STI · Kelompok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41732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E8B6F"/>
                </a:solidFill>
                <a:latin typeface="Segoe UI Semibold"/>
              </a:rPr>
              <a:t>Sebuah retailer online B2C</a:t>
            </a:r>
            <a:r>
              <a:rPr sz="1450" b="0">
                <a:solidFill>
                  <a:srgbClr val="123A49"/>
                </a:solidFill>
                <a:latin typeface="Segoe UI"/>
              </a:rPr>
              <a:t> ingin memahami kinerja penjualannya selama ~3,5 tahun (data agregat mingguan, anonim) untuk mendukung keputusan stok, promo, dan target.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514600"/>
            <a:ext cx="841248" cy="786384"/>
          </a:xfrm>
          <a:prstGeom prst="roundRect">
            <a:avLst/>
          </a:prstGeom>
          <a:solidFill>
            <a:srgbClr val="2E8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32888"/>
            <a:ext cx="841248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 Semibold"/>
              </a:rPr>
              <a:t>Q1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569464"/>
            <a:ext cx="9418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23A49"/>
                </a:solidFill>
                <a:latin typeface="Segoe UI Semibold"/>
              </a:rPr>
              <a:t>Tren &amp; pertumbuhan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5A6A70"/>
                </a:solidFill>
                <a:latin typeface="Segoe UI"/>
              </a:rPr>
              <a:t>Bagaimana tren revenue, transaksi, dan pelanggan dari waktu ke waktu?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429000"/>
            <a:ext cx="841248" cy="786384"/>
          </a:xfrm>
          <a:prstGeom prst="roundRect">
            <a:avLst/>
          </a:prstGeom>
          <a:solidFill>
            <a:srgbClr val="2E8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447288"/>
            <a:ext cx="841248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 Semibold"/>
              </a:rPr>
              <a:t>Q2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483864"/>
            <a:ext cx="9418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23A49"/>
                </a:solidFill>
                <a:latin typeface="Segoe UI Semibold"/>
              </a:rPr>
              <a:t>Pendorong revenue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5A6A70"/>
                </a:solidFill>
                <a:latin typeface="Segoe UI"/>
              </a:rPr>
              <a:t>Pertumbuhan ditarik oleh volume transaksi atau nilai per transaksi (AOV)?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343400"/>
            <a:ext cx="841248" cy="786384"/>
          </a:xfrm>
          <a:prstGeom prst="roundRect">
            <a:avLst/>
          </a:prstGeom>
          <a:solidFill>
            <a:srgbClr val="2E8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361688"/>
            <a:ext cx="841248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 Semibold"/>
              </a:rPr>
              <a:t>Q3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398264"/>
            <a:ext cx="9418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23A49"/>
                </a:solidFill>
                <a:latin typeface="Segoe UI Semibold"/>
              </a:rPr>
              <a:t>Pola musiman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5A6A70"/>
                </a:solidFill>
                <a:latin typeface="Segoe UI"/>
              </a:rPr>
              <a:t>Adakah bulan ramai/sepi untuk perencanaan stok &amp; campaign?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257800"/>
            <a:ext cx="841248" cy="786384"/>
          </a:xfrm>
          <a:prstGeom prst="roundRect">
            <a:avLst/>
          </a:prstGeom>
          <a:solidFill>
            <a:srgbClr val="2E8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276088"/>
            <a:ext cx="841248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 Semibold"/>
              </a:rPr>
              <a:t>Q4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5312664"/>
            <a:ext cx="9418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23A49"/>
                </a:solidFill>
                <a:latin typeface="Segoe UI Semibold"/>
              </a:rPr>
              <a:t>Efektivitas diskon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5A6A70"/>
                </a:solidFill>
                <a:latin typeface="Segoe UI"/>
              </a:rPr>
              <a:t>Seberapa efektif strategi diskon terhadap revenue?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420624"/>
            <a:ext cx="128016" cy="566928"/>
          </a:xfrm>
          <a:prstGeom prst="rect">
            <a:avLst/>
          </a:prstGeom>
          <a:solidFill>
            <a:srgbClr val="1C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365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D98A4B"/>
                </a:solidFill>
                <a:latin typeface="Segoe UI Semibold"/>
              </a:rPr>
              <a:t>STUDI KASUS 2 · PENJUALAN RITEL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566928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C6F8C"/>
                </a:solidFill>
                <a:latin typeface="Segoe UI Semibold"/>
              </a:rPr>
              <a:t>Dashboard Interaktif (Plotly)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188720"/>
            <a:ext cx="11094415" cy="16459"/>
          </a:xfrm>
          <a:prstGeom prst="rect">
            <a:avLst/>
          </a:prstGeom>
          <a:solidFill>
            <a:srgbClr val="E2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0" y="6364224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A70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64224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A70"/>
                </a:solidFill>
                <a:latin typeface="Segoe UI"/>
              </a:rPr>
              <a:t>Final Project STI · Kelompok 5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71600"/>
            <a:ext cx="4107002" cy="4800600"/>
          </a:xfrm>
          <a:prstGeom prst="rect">
            <a:avLst/>
          </a:prstGeom>
          <a:noFill/>
          <a:ln w="15240">
            <a:solidFill>
              <a:srgbClr val="E2EE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lotly_dashboard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17320"/>
            <a:ext cx="4015562" cy="47091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50002" y="1554480"/>
            <a:ext cx="608855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98A4B"/>
                </a:solidFill>
                <a:latin typeface="Segoe UI Semibold"/>
              </a:rPr>
              <a:t>KOMPONEN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50002" y="1965960"/>
            <a:ext cx="6088557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250" b="0">
                <a:solidFill>
                  <a:srgbClr val="2E8B6F"/>
                </a:solidFill>
                <a:latin typeface="Segoe UI"/>
              </a:rPr>
              <a:t>•  </a:t>
            </a:r>
            <a:r>
              <a:rPr sz="1250">
                <a:solidFill>
                  <a:srgbClr val="123A49"/>
                </a:solidFill>
                <a:latin typeface="Segoe UI"/>
              </a:rPr>
              <a:t>Scorecard KPI: revenue, transaksi, AOV, rata-rata diskon.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250" b="0">
                <a:solidFill>
                  <a:srgbClr val="2E8B6F"/>
                </a:solidFill>
                <a:latin typeface="Segoe UI"/>
              </a:rPr>
              <a:t>•  </a:t>
            </a:r>
            <a:r>
              <a:rPr sz="1250">
                <a:solidFill>
                  <a:srgbClr val="123A49"/>
                </a:solidFill>
                <a:latin typeface="Segoe UI"/>
              </a:rPr>
              <a:t>Tren revenue mingguan + rata-rata 4 minggu (range slider, dropdown tahun).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250" b="0">
                <a:solidFill>
                  <a:srgbClr val="2E8B6F"/>
                </a:solidFill>
                <a:latin typeface="Segoe UI"/>
              </a:rPr>
              <a:t>•  </a:t>
            </a:r>
            <a:r>
              <a:rPr sz="1250">
                <a:solidFill>
                  <a:srgbClr val="123A49"/>
                </a:solidFill>
                <a:latin typeface="Segoe UI"/>
              </a:rPr>
              <a:t>Revenue per tahun &amp; pola musiman per bulan.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250" b="0">
                <a:solidFill>
                  <a:srgbClr val="2E8B6F"/>
                </a:solidFill>
                <a:latin typeface="Segoe UI"/>
              </a:rPr>
              <a:t>•  </a:t>
            </a:r>
            <a:r>
              <a:rPr sz="1250">
                <a:solidFill>
                  <a:srgbClr val="123A49"/>
                </a:solidFill>
                <a:latin typeface="Segoe UI"/>
              </a:rPr>
              <a:t>AOV per tahun &amp; scatter diskon vs revenue.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50002" y="5029200"/>
            <a:ext cx="608855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C6F8C"/>
                </a:solidFill>
                <a:latin typeface="Segoe UI Semibold"/>
              </a:rPr>
              <a:t>Interaktif: </a:t>
            </a:r>
            <a:r>
              <a:rPr sz="1150" b="0">
                <a:solidFill>
                  <a:srgbClr val="5A6A70"/>
                </a:solidFill>
                <a:latin typeface="Segoe UI"/>
              </a:rPr>
              <a:t>hover, zoom, filter tahun, langsung di notebook.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420624"/>
            <a:ext cx="128016" cy="566928"/>
          </a:xfrm>
          <a:prstGeom prst="rect">
            <a:avLst/>
          </a:prstGeom>
          <a:solidFill>
            <a:srgbClr val="1C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365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D98A4B"/>
                </a:solidFill>
                <a:latin typeface="Segoe UI Semibold"/>
              </a:rPr>
              <a:t>STUDI KASUS 2 · PENJUALAN RITEL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566928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C6F8C"/>
                </a:solidFill>
                <a:latin typeface="Segoe UI Semibold"/>
              </a:rPr>
              <a:t>Temuan &amp; Rekomendasi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188720"/>
            <a:ext cx="11094415" cy="16459"/>
          </a:xfrm>
          <a:prstGeom prst="rect">
            <a:avLst/>
          </a:prstGeom>
          <a:solidFill>
            <a:srgbClr val="E2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0" y="6364224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A70"/>
                </a:solidFill>
                <a:latin typeface="Segoe U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64224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A70"/>
                </a:solidFill>
                <a:latin typeface="Segoe UI"/>
              </a:rPr>
              <a:t>Final Project STI · Kelompok 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417320"/>
            <a:ext cx="2542032" cy="1371600"/>
          </a:xfrm>
          <a:prstGeom prst="roundRect">
            <a:avLst/>
          </a:prstGeom>
          <a:solidFill>
            <a:srgbClr val="F1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1417320"/>
            <a:ext cx="2542032" cy="91440"/>
          </a:xfrm>
          <a:prstGeom prst="roundRect">
            <a:avLst/>
          </a:prstGeom>
          <a:solidFill>
            <a:srgbClr val="2E8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572768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E8B6F"/>
                </a:solidFill>
                <a:latin typeface="Segoe UI Semibold"/>
              </a:rPr>
              <a:t>5×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084831"/>
            <a:ext cx="2286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A70"/>
                </a:solidFill>
                <a:latin typeface="Segoe UI"/>
              </a:rPr>
              <a:t>Pertumbuhan revenue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A70"/>
                </a:solidFill>
                <a:latin typeface="Segoe UI"/>
              </a:rPr>
              <a:t>2023 → 2025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93008" y="1417320"/>
            <a:ext cx="2542032" cy="1371600"/>
          </a:xfrm>
          <a:prstGeom prst="roundRect">
            <a:avLst/>
          </a:prstGeom>
          <a:solidFill>
            <a:srgbClr val="F1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93008" y="1417320"/>
            <a:ext cx="2542032" cy="91440"/>
          </a:xfrm>
          <a:prstGeom prst="roundRect">
            <a:avLst/>
          </a:prstGeom>
          <a:solidFill>
            <a:srgbClr val="1C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5887" y="1572768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C6F8C"/>
                </a:solidFill>
                <a:latin typeface="Segoe UI Semibold"/>
              </a:rPr>
              <a:t>AOV 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75887" y="2084831"/>
            <a:ext cx="2286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A70"/>
                </a:solidFill>
                <a:latin typeface="Segoe UI"/>
              </a:rPr>
              <a:t>Pendorong utama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A70"/>
                </a:solidFill>
                <a:latin typeface="Segoe UI"/>
              </a:rPr>
              <a:t>(bukan volume)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3056" y="1417320"/>
            <a:ext cx="2542032" cy="1371600"/>
          </a:xfrm>
          <a:prstGeom prst="roundRect">
            <a:avLst/>
          </a:prstGeom>
          <a:solidFill>
            <a:srgbClr val="F1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63056" y="1417320"/>
            <a:ext cx="2542032" cy="91440"/>
          </a:xfrm>
          <a:prstGeom prst="roundRect">
            <a:avLst/>
          </a:prstGeom>
          <a:solidFill>
            <a:srgbClr val="D98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5936" y="1572768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D98A4B"/>
                </a:solidFill>
                <a:latin typeface="Segoe UI Semibold"/>
              </a:rPr>
              <a:t>~1,3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2084831"/>
            <a:ext cx="2286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A70"/>
                </a:solidFill>
                <a:latin typeface="Segoe UI"/>
              </a:rPr>
              <a:t>Unit per transaksi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A70"/>
                </a:solidFill>
                <a:latin typeface="Segoe UI"/>
              </a:rPr>
              <a:t>(keranjang kecil)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833104" y="1417320"/>
            <a:ext cx="2542032" cy="1371600"/>
          </a:xfrm>
          <a:prstGeom prst="roundRect">
            <a:avLst/>
          </a:prstGeom>
          <a:solidFill>
            <a:srgbClr val="F1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833104" y="1417320"/>
            <a:ext cx="2542032" cy="91440"/>
          </a:xfrm>
          <a:prstGeom prst="roundRect">
            <a:avLst/>
          </a:prstGeom>
          <a:solidFill>
            <a:srgbClr val="123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15984" y="1572768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23A49"/>
                </a:solidFill>
                <a:latin typeface="Segoe UI Semibold"/>
              </a:rPr>
              <a:t>Jun–Jul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5984" y="2084831"/>
            <a:ext cx="2286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A70"/>
                </a:solidFill>
                <a:latin typeface="Segoe UI"/>
              </a:rPr>
              <a:t>Puncak musiman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A70"/>
                </a:solidFill>
                <a:latin typeface="Segoe UI"/>
              </a:rPr>
              <a:t>(juga Januari)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306324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98A4B"/>
                </a:solidFill>
                <a:latin typeface="Segoe UI Semibold"/>
              </a:rPr>
              <a:t>TEMUAN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3456432"/>
            <a:ext cx="5257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250" b="0">
                <a:solidFill>
                  <a:srgbClr val="1C6F8C"/>
                </a:solidFill>
                <a:latin typeface="Segoe UI"/>
              </a:rPr>
              <a:t>•  </a:t>
            </a:r>
            <a:r>
              <a:rPr sz="1250">
                <a:solidFill>
                  <a:srgbClr val="123A49"/>
                </a:solidFill>
                <a:latin typeface="Segoe UI"/>
              </a:rPr>
              <a:t>Revenue tahunan naik ~5× dalam dua tahun (2023 → 2025).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250" b="0">
                <a:solidFill>
                  <a:srgbClr val="1C6F8C"/>
                </a:solidFill>
                <a:latin typeface="Segoe UI"/>
              </a:rPr>
              <a:t>•  </a:t>
            </a:r>
            <a:r>
              <a:rPr sz="1250">
                <a:solidFill>
                  <a:srgbClr val="123A49"/>
                </a:solidFill>
                <a:latin typeface="Segoe UI"/>
              </a:rPr>
              <a:t>Pendorong = nilai (AOV naik tajam), bukan sekadar jumlah transaksi.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250" b="0">
                <a:solidFill>
                  <a:srgbClr val="1C6F8C"/>
                </a:solidFill>
                <a:latin typeface="Segoe UI"/>
              </a:rPr>
              <a:t>•  </a:t>
            </a:r>
            <a:r>
              <a:rPr sz="1250">
                <a:solidFill>
                  <a:srgbClr val="123A49"/>
                </a:solidFill>
                <a:latin typeface="Segoe UI"/>
              </a:rPr>
              <a:t>Diskon belum efektif: rata-rata ~36% namun korelasi diskon-revenue ~0 → indikasi over-discounting.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3063240"/>
            <a:ext cx="4965192" cy="2926080"/>
          </a:xfrm>
          <a:prstGeom prst="roundRect">
            <a:avLst/>
          </a:prstGeom>
          <a:solidFill>
            <a:srgbClr val="F1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0840" y="3246120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E8B6F"/>
                </a:solidFill>
                <a:latin typeface="Segoe UI Semibold"/>
              </a:rPr>
              <a:t>REKOMENDASI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3657600"/>
            <a:ext cx="438912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2E8B6F"/>
                </a:solidFill>
                <a:latin typeface="Segoe UI"/>
              </a:rPr>
              <a:t>•  </a:t>
            </a:r>
            <a:r>
              <a:rPr sz="1200">
                <a:solidFill>
                  <a:srgbClr val="123A49"/>
                </a:solidFill>
                <a:latin typeface="Segoe UI"/>
              </a:rPr>
              <a:t>Pertahankan momentum AOV via bundling/upsell (keranjang masih 1,3 item).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2E8B6F"/>
                </a:solidFill>
                <a:latin typeface="Segoe UI"/>
              </a:rPr>
              <a:t>•  </a:t>
            </a:r>
            <a:r>
              <a:rPr sz="1200">
                <a:solidFill>
                  <a:srgbClr val="123A49"/>
                </a:solidFill>
                <a:latin typeface="Segoe UI"/>
              </a:rPr>
              <a:t>Evaluasi strategi diskon: uji kurangi diskon, ukur dampak ke revenue.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2E8B6F"/>
                </a:solidFill>
                <a:latin typeface="Segoe UI"/>
              </a:rPr>
              <a:t>•  </a:t>
            </a:r>
            <a:r>
              <a:rPr sz="1200">
                <a:solidFill>
                  <a:srgbClr val="123A49"/>
                </a:solidFill>
                <a:latin typeface="Segoe UI"/>
              </a:rPr>
              <a:t>Manfaatkan puncak musiman (Jun–Jul, Jan) untuk stok &amp; promo.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2E8B6F"/>
                </a:solidFill>
                <a:latin typeface="Segoe UI"/>
              </a:rPr>
              <a:t>•  </a:t>
            </a:r>
            <a:r>
              <a:rPr sz="1200">
                <a:solidFill>
                  <a:srgbClr val="123A49"/>
                </a:solidFill>
                <a:latin typeface="Segoe UI"/>
              </a:rPr>
              <a:t>Dorong akuisisi/retensi pelanggan (jumlah pelanggan relatif stagnan).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420624"/>
            <a:ext cx="128016" cy="566928"/>
          </a:xfrm>
          <a:prstGeom prst="rect">
            <a:avLst/>
          </a:prstGeom>
          <a:solidFill>
            <a:srgbClr val="1C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365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D98A4B"/>
                </a:solidFill>
                <a:latin typeface="Segoe UI Semibold"/>
              </a:rPr>
              <a:t>PENUTUP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566928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C6F8C"/>
                </a:solidFill>
                <a:latin typeface="Segoe UI Semibold"/>
              </a:rPr>
              <a:t>Kesimpulan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188720"/>
            <a:ext cx="11094415" cy="16459"/>
          </a:xfrm>
          <a:prstGeom prst="rect">
            <a:avLst/>
          </a:prstGeom>
          <a:solidFill>
            <a:srgbClr val="E2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0" y="6364224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A70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64224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A70"/>
                </a:solidFill>
                <a:latin typeface="Segoe UI"/>
              </a:rPr>
              <a:t>Final Project STI · Kelompok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554480"/>
            <a:ext cx="105156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500" b="0">
                <a:solidFill>
                  <a:srgbClr val="1C6F8C"/>
                </a:solidFill>
                <a:latin typeface="Segoe UI"/>
              </a:rPr>
              <a:t>•  </a:t>
            </a:r>
            <a:r>
              <a:rPr sz="1500">
                <a:solidFill>
                  <a:srgbClr val="123A49"/>
                </a:solidFill>
                <a:latin typeface="Segoe UI"/>
              </a:rPr>
              <a:t>Pendekatan CRISP-DM berhasil mengubah dua dataset mentah menjadi artefak pemantauan yang menjawab pertanyaan bisnis nyata.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500" b="0">
                <a:solidFill>
                  <a:srgbClr val="1C6F8C"/>
                </a:solidFill>
                <a:latin typeface="Segoe UI"/>
              </a:rPr>
              <a:t>•  </a:t>
            </a:r>
            <a:r>
              <a:rPr sz="1500">
                <a:solidFill>
                  <a:srgbClr val="123A49"/>
                </a:solidFill>
                <a:latin typeface="Segoe UI"/>
              </a:rPr>
              <a:t>Inventory CGS-1: aset siap (~94% aktif), namun gap data kalibrasi menjadi prioritas tindak lanjut keselamatan &amp; kepatuhan.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500" b="0">
                <a:solidFill>
                  <a:srgbClr val="1C6F8C"/>
                </a:solidFill>
                <a:latin typeface="Segoe UI"/>
              </a:rPr>
              <a:t>•  </a:t>
            </a:r>
            <a:r>
              <a:rPr sz="1500">
                <a:solidFill>
                  <a:srgbClr val="123A49"/>
                </a:solidFill>
                <a:latin typeface="Segoe UI"/>
              </a:rPr>
              <a:t>Penjualan ritel: pertumbuhan kuat (~5×) ditarik kenaikan AOV; strategi diskon perlu dievaluasi (indikasi over-discounting).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500" b="0">
                <a:solidFill>
                  <a:srgbClr val="1C6F8C"/>
                </a:solidFill>
                <a:latin typeface="Segoe UI"/>
              </a:rPr>
              <a:t>•  </a:t>
            </a:r>
            <a:r>
              <a:rPr sz="1500">
                <a:solidFill>
                  <a:srgbClr val="123A49"/>
                </a:solidFill>
                <a:latin typeface="Segoe UI"/>
              </a:rPr>
              <a:t>Manajemen proyek via GitHub Projects menjaga pekerjaan kelompok transparan, terbagi, dan terlacak (12 selesai · 2 berjalan · 2 antre).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500" b="0">
                <a:solidFill>
                  <a:srgbClr val="1C6F8C"/>
                </a:solidFill>
                <a:latin typeface="Segoe UI"/>
              </a:rPr>
              <a:t>•  </a:t>
            </a:r>
            <a:r>
              <a:rPr sz="1500">
                <a:solidFill>
                  <a:srgbClr val="123A49"/>
                </a:solidFill>
                <a:latin typeface="Segoe UI"/>
              </a:rPr>
              <a:t>Tindak lanjut terbuka: bersihkan outlier data penjualan dan finalisasi dashboard Looker Studio inventory.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amond 3"/>
          <p:cNvSpPr/>
          <p:nvPr/>
        </p:nvSpPr>
        <p:spPr>
          <a:xfrm>
            <a:off x="8229600" y="-1371600"/>
            <a:ext cx="5943600" cy="5943600"/>
          </a:xfrm>
          <a:prstGeom prst="diamond">
            <a:avLst/>
          </a:prstGeom>
          <a:solidFill>
            <a:srgbClr val="123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92640" y="4114800"/>
            <a:ext cx="4572000" cy="4572000"/>
          </a:xfrm>
          <a:prstGeom prst="ellipse">
            <a:avLst/>
          </a:prstGeom>
          <a:solidFill>
            <a:srgbClr val="215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46888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Segoe UI Semibold"/>
              </a:rPr>
              <a:t>Terima Kasih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611880"/>
            <a:ext cx="2743200" cy="45720"/>
          </a:xfrm>
          <a:prstGeom prst="rect">
            <a:avLst/>
          </a:prstGeom>
          <a:solidFill>
            <a:srgbClr val="D98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38862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ECAE1"/>
                </a:solidFill>
                <a:latin typeface="Segoe UI"/>
              </a:rPr>
              <a:t>Final Project STI · Kelompok 5 · MMT 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43434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Segoe UI"/>
              </a:rPr>
              <a:t>github.com/sianida26/sti-final-project-kel5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