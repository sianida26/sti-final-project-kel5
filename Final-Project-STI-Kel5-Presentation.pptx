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1783080"/>
            <a:ext cx="10607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>
                <a:solidFill>
                  <a:srgbClr val="1EA7DD"/>
                </a:solidFill>
                <a:latin typeface="Segoe UI Black"/>
              </a:rPr>
              <a:t>FINAL PROJECT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123047"/>
                </a:solidFill>
                <a:latin typeface="Segoe UI Black"/>
              </a:rPr>
              <a:t>SISTEM &amp; TEKNOLOGI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123047"/>
                </a:solidFill>
                <a:latin typeface="Segoe UI Black"/>
              </a:rPr>
              <a:t>INFORMASI</a:t>
            </a:r>
          </a:p>
        </p:txBody>
      </p:sp>
      <p:sp>
        <p:nvSpPr>
          <p:cNvPr id="4" name="Rectangle 3"/>
          <p:cNvSpPr/>
          <p:nvPr/>
        </p:nvSpPr>
        <p:spPr>
          <a:xfrm>
            <a:off x="886968" y="4114800"/>
            <a:ext cx="777240" cy="2743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395020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C33"/>
                </a:solidFill>
                <a:latin typeface="Segoe UI Semibold"/>
              </a:rPr>
              <a:t>Analisis &amp; Monitoring Data dengan Pendekatan CRISP-DM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44348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A98A0"/>
                </a:solidFill>
                <a:latin typeface="Segoe UI Semibold"/>
              </a:rPr>
              <a:t>MAGISTER MANAJEMEN TEKNOLOGI · INSTITUT TEKNOLOGI SEPULUH NOPEMBER</a:t>
            </a:r>
          </a:p>
        </p:txBody>
      </p:sp>
      <p:sp>
        <p:nvSpPr>
          <p:cNvPr id="7" name="Snip Single Corner Rectangle 6"/>
          <p:cNvSpPr/>
          <p:nvPr/>
        </p:nvSpPr>
        <p:spPr>
          <a:xfrm>
            <a:off x="868680" y="5074920"/>
            <a:ext cx="6675120" cy="1143000"/>
          </a:xfrm>
          <a:prstGeom prst="snip1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5193792"/>
            <a:ext cx="6309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KELOMPOK 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23047"/>
                </a:solidFill>
                <a:latin typeface="Segoe UI Semibold"/>
              </a:rPr>
              <a:t>Moch Chesa Nur Hidayat</a:t>
            </a:r>
            <a:r>
              <a:rPr sz="1300" b="0">
                <a:solidFill>
                  <a:srgbClr val="8A98A0"/>
                </a:solidFill>
                <a:latin typeface="Segoe UI"/>
              </a:rPr>
              <a:t>    ·    [Anggota 2]    ·    [Anggota 3]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GitHub: sianida26, Misbahulmunir26, …     |     Dosen: [isi nama dosen]</a:t>
            </a:r>
          </a:p>
        </p:txBody>
      </p:sp>
      <p:sp>
        <p:nvSpPr>
          <p:cNvPr id="9" name="Snip Single Corner Rectangle 8"/>
          <p:cNvSpPr/>
          <p:nvPr/>
        </p:nvSpPr>
        <p:spPr>
          <a:xfrm>
            <a:off x="8732520" y="5074920"/>
            <a:ext cx="2606040" cy="1143000"/>
          </a:xfrm>
          <a:prstGeom prst="snip1Rect">
            <a:avLst>
              <a:gd name="adj" fmla="val 16000"/>
            </a:avLst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15400" y="5285232"/>
            <a:ext cx="228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EA7DD"/>
                </a:solidFill>
                <a:latin typeface="Segoe UI Black"/>
              </a:rPr>
              <a:t>23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Juni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AGENDA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PRESENTASI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02</a:t>
            </a:r>
          </a:p>
        </p:txBody>
      </p:sp>
      <p:sp>
        <p:nvSpPr>
          <p:cNvPr id="8" name="Snip Single Corner Rectangle 7"/>
          <p:cNvSpPr/>
          <p:nvPr/>
        </p:nvSpPr>
        <p:spPr>
          <a:xfrm>
            <a:off x="822960" y="1517904"/>
            <a:ext cx="914400" cy="731520"/>
          </a:xfrm>
          <a:prstGeom prst="snip1Rect">
            <a:avLst>
              <a:gd name="adj" fmla="val 18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609344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047"/>
                </a:solidFill>
                <a:latin typeface="Segoe UI Semibold"/>
              </a:rPr>
              <a:t>Latar Belakang &amp; Tujuan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Konteks dua studi kasus dan business questions</a:t>
            </a:r>
          </a:p>
        </p:txBody>
      </p:sp>
      <p:sp>
        <p:nvSpPr>
          <p:cNvPr id="11" name="Snip Single Corner Rectangle 10"/>
          <p:cNvSpPr/>
          <p:nvPr/>
        </p:nvSpPr>
        <p:spPr>
          <a:xfrm>
            <a:off x="822960" y="2322576"/>
            <a:ext cx="914400" cy="731520"/>
          </a:xfrm>
          <a:prstGeom prst="snip1Rect">
            <a:avLst>
              <a:gd name="adj" fmla="val 18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40864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41401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047"/>
                </a:solidFill>
                <a:latin typeface="Segoe UI Semibold"/>
              </a:rPr>
              <a:t>Metodologi CRISP-DM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Kerangka kerja pengolahan data end-to-end</a:t>
            </a:r>
          </a:p>
        </p:txBody>
      </p:sp>
      <p:sp>
        <p:nvSpPr>
          <p:cNvPr id="14" name="Snip Single Corner Rectangle 13"/>
          <p:cNvSpPr/>
          <p:nvPr/>
        </p:nvSpPr>
        <p:spPr>
          <a:xfrm>
            <a:off x="822960" y="3127248"/>
            <a:ext cx="914400" cy="731520"/>
          </a:xfrm>
          <a:prstGeom prst="snip1Rect">
            <a:avLst>
              <a:gd name="adj" fmla="val 18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145536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218688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047"/>
                </a:solidFill>
                <a:latin typeface="Segoe UI Semibold"/>
              </a:rPr>
              <a:t>Manajemen Proyek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Pelacakan pekerjaan via GitHub Projects (kanban)</a:t>
            </a:r>
          </a:p>
        </p:txBody>
      </p:sp>
      <p:sp>
        <p:nvSpPr>
          <p:cNvPr id="17" name="Snip Single Corner Rectangle 16"/>
          <p:cNvSpPr/>
          <p:nvPr/>
        </p:nvSpPr>
        <p:spPr>
          <a:xfrm>
            <a:off x="822960" y="3931920"/>
            <a:ext cx="914400" cy="731520"/>
          </a:xfrm>
          <a:prstGeom prst="snip1Rect">
            <a:avLst>
              <a:gd name="adj" fmla="val 18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950207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023359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047"/>
                </a:solidFill>
                <a:latin typeface="Segoe UI Semibold"/>
              </a:rPr>
              <a:t>Studi Kasus 1: Inventory CGS-1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Monitoring kesiapan &amp; kalibrasi instrumen</a:t>
            </a:r>
          </a:p>
        </p:txBody>
      </p:sp>
      <p:sp>
        <p:nvSpPr>
          <p:cNvPr id="20" name="Snip Single Corner Rectangle 19"/>
          <p:cNvSpPr/>
          <p:nvPr/>
        </p:nvSpPr>
        <p:spPr>
          <a:xfrm>
            <a:off x="822960" y="4736592"/>
            <a:ext cx="914400" cy="731520"/>
          </a:xfrm>
          <a:prstGeom prst="snip1Rect">
            <a:avLst>
              <a:gd name="adj" fmla="val 18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754879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4828031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047"/>
                </a:solidFill>
                <a:latin typeface="Segoe UI Semibold"/>
              </a:rPr>
              <a:t>Studi Kasus 2: Penjualan Ritel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Tren, pendorong revenue, musiman, diskon</a:t>
            </a:r>
          </a:p>
        </p:txBody>
      </p:sp>
      <p:sp>
        <p:nvSpPr>
          <p:cNvPr id="23" name="Snip Single Corner Rectangle 22"/>
          <p:cNvSpPr/>
          <p:nvPr/>
        </p:nvSpPr>
        <p:spPr>
          <a:xfrm>
            <a:off x="822960" y="5541264"/>
            <a:ext cx="914400" cy="731520"/>
          </a:xfrm>
          <a:prstGeom prst="snip1Rect">
            <a:avLst>
              <a:gd name="adj" fmla="val 18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559551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32703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047"/>
                </a:solidFill>
                <a:latin typeface="Segoe UI Semibold"/>
              </a:rPr>
              <a:t>Kesimpulan &amp; Rekomendasi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Temuan utama dan tindak lanjut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PENDAHULUAN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LATAR BELAKANG &amp;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TUJUAN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Segoe UI"/>
              </a:rPr>
              <a:t>Tim mengangkat </a:t>
            </a:r>
            <a:r>
              <a:rPr sz="1400" b="1">
                <a:solidFill>
                  <a:srgbClr val="1EA7DD"/>
                </a:solidFill>
                <a:latin typeface="Segoe UI Semibold"/>
              </a:rPr>
              <a:t>dua studi kasus pengolahan data nyata</a:t>
            </a:r>
            <a:r>
              <a:rPr sz="1400" b="0">
                <a:solidFill>
                  <a:srgbClr val="1E2C33"/>
                </a:solidFill>
                <a:latin typeface="Segoe UI"/>
              </a:rPr>
              <a:t> dari lingkungan kerja anggota, lalu mengolahnya secara terstruktur (CRISP-DM) hingga menjadi dashboard pemantauan.</a:t>
            </a:r>
          </a:p>
        </p:txBody>
      </p:sp>
      <p:sp>
        <p:nvSpPr>
          <p:cNvPr id="9" name="Snip Single Corner Rectangle 8"/>
          <p:cNvSpPr/>
          <p:nvPr/>
        </p:nvSpPr>
        <p:spPr>
          <a:xfrm>
            <a:off x="822960" y="2286000"/>
            <a:ext cx="4983480" cy="3749039"/>
          </a:xfrm>
          <a:prstGeom prst="snip1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15568" y="2615184"/>
            <a:ext cx="548640" cy="82296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7889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STUDI KASUS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35808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3047"/>
                </a:solidFill>
                <a:latin typeface="Segoe UI Black"/>
              </a:rPr>
              <a:t>Inventory Instrumen CGS-1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822191"/>
            <a:ext cx="4434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Monitoring kesiapan instrumen lapangan (transmitter, valve, actuator) pada Custody Gas Station.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Fokus: status aset, ketergantungan vendor, dan gap data kalibrasi (keselamatan &amp; kepatuhan).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Output: dashboard Looker Studio.</a:t>
            </a:r>
          </a:p>
        </p:txBody>
      </p:sp>
      <p:sp>
        <p:nvSpPr>
          <p:cNvPr id="14" name="Snip Single Corner Rectangle 13"/>
          <p:cNvSpPr/>
          <p:nvPr/>
        </p:nvSpPr>
        <p:spPr>
          <a:xfrm>
            <a:off x="6400800" y="2286000"/>
            <a:ext cx="4983480" cy="3749039"/>
          </a:xfrm>
          <a:prstGeom prst="snip1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93408" y="2615184"/>
            <a:ext cx="548640" cy="82296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408" y="27889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STUDI KASUS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408" y="3035808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3047"/>
                </a:solidFill>
                <a:latin typeface="Segoe UI Black"/>
              </a:rPr>
              <a:t>Kinerja Penjualan Ritel Online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3408" y="3822191"/>
            <a:ext cx="4434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Data penjualan B2C agregat mingguan, 2022–2026 (~3,5 tahun).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Fokus: tren &amp; pertumbuhan, pendorong revenue, pola musiman, efektivitas diskon.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Output: dashboard interaktif Plotly.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METODOLOGI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KERANGKA KERJA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CRISP-DM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98A0"/>
                </a:solidFill>
                <a:latin typeface="Segoe UI"/>
              </a:rPr>
              <a:t>Setiap studi kasus mengikuti enam fase CRISP-DM berurutan, dari pemahaman bisnis hingga deployment dashboard.</a:t>
            </a:r>
          </a:p>
        </p:txBody>
      </p:sp>
      <p:sp>
        <p:nvSpPr>
          <p:cNvPr id="9" name="Snip Single Corner Rectangle 8"/>
          <p:cNvSpPr/>
          <p:nvPr/>
        </p:nvSpPr>
        <p:spPr>
          <a:xfrm>
            <a:off x="822960" y="2286000"/>
            <a:ext cx="1700784" cy="233172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nip Single Corner Rectangle 9"/>
          <p:cNvSpPr/>
          <p:nvPr/>
        </p:nvSpPr>
        <p:spPr>
          <a:xfrm>
            <a:off x="1362456" y="2560320"/>
            <a:ext cx="621792" cy="621792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62456" y="2569464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Business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Understanding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96512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Tujuan &amp; business questions</a:t>
            </a:r>
          </a:p>
        </p:txBody>
      </p:sp>
      <p:sp>
        <p:nvSpPr>
          <p:cNvPr id="14" name="Chevron 13"/>
          <p:cNvSpPr/>
          <p:nvPr/>
        </p:nvSpPr>
        <p:spPr>
          <a:xfrm>
            <a:off x="2532888" y="3310128"/>
            <a:ext cx="118872" cy="109728"/>
          </a:xfrm>
          <a:prstGeom prst="chevron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nip Single Corner Rectangle 14"/>
          <p:cNvSpPr/>
          <p:nvPr/>
        </p:nvSpPr>
        <p:spPr>
          <a:xfrm>
            <a:off x="2642616" y="2286000"/>
            <a:ext cx="1700784" cy="233172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nip Single Corner Rectangle 15"/>
          <p:cNvSpPr/>
          <p:nvPr/>
        </p:nvSpPr>
        <p:spPr>
          <a:xfrm>
            <a:off x="3182112" y="2560320"/>
            <a:ext cx="621792" cy="621792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82112" y="2569464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4056" y="3310128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Data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Understanding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2344" y="4096512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Load data, profil kualitas</a:t>
            </a:r>
          </a:p>
        </p:txBody>
      </p:sp>
      <p:sp>
        <p:nvSpPr>
          <p:cNvPr id="20" name="Chevron 19"/>
          <p:cNvSpPr/>
          <p:nvPr/>
        </p:nvSpPr>
        <p:spPr>
          <a:xfrm>
            <a:off x="4352544" y="3310128"/>
            <a:ext cx="118872" cy="109728"/>
          </a:xfrm>
          <a:prstGeom prst="chevron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nip Single Corner Rectangle 20"/>
          <p:cNvSpPr/>
          <p:nvPr/>
        </p:nvSpPr>
        <p:spPr>
          <a:xfrm>
            <a:off x="4462272" y="2286000"/>
            <a:ext cx="1700784" cy="233172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nip Single Corner Rectangle 21"/>
          <p:cNvSpPr/>
          <p:nvPr/>
        </p:nvSpPr>
        <p:spPr>
          <a:xfrm>
            <a:off x="5001768" y="2560320"/>
            <a:ext cx="621792" cy="621792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1768" y="2569464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310128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Data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Preparation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096512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Cleaning, kolom turunan</a:t>
            </a:r>
          </a:p>
        </p:txBody>
      </p:sp>
      <p:sp>
        <p:nvSpPr>
          <p:cNvPr id="26" name="Chevron 25"/>
          <p:cNvSpPr/>
          <p:nvPr/>
        </p:nvSpPr>
        <p:spPr>
          <a:xfrm>
            <a:off x="6172200" y="3310128"/>
            <a:ext cx="118872" cy="109728"/>
          </a:xfrm>
          <a:prstGeom prst="chevron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nip Single Corner Rectangle 26"/>
          <p:cNvSpPr/>
          <p:nvPr/>
        </p:nvSpPr>
        <p:spPr>
          <a:xfrm>
            <a:off x="6281928" y="2286000"/>
            <a:ext cx="1700784" cy="233172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nip Single Corner Rectangle 27"/>
          <p:cNvSpPr/>
          <p:nvPr/>
        </p:nvSpPr>
        <p:spPr>
          <a:xfrm>
            <a:off x="6821424" y="2560320"/>
            <a:ext cx="621792" cy="621792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1424" y="2569464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3368" y="3310128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Modeling /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Analisis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1656" y="4096512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Agregasi &amp; visualisasi</a:t>
            </a:r>
          </a:p>
        </p:txBody>
      </p:sp>
      <p:sp>
        <p:nvSpPr>
          <p:cNvPr id="32" name="Chevron 31"/>
          <p:cNvSpPr/>
          <p:nvPr/>
        </p:nvSpPr>
        <p:spPr>
          <a:xfrm>
            <a:off x="7991856" y="3310128"/>
            <a:ext cx="118872" cy="109728"/>
          </a:xfrm>
          <a:prstGeom prst="chevron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nip Single Corner Rectangle 32"/>
          <p:cNvSpPr/>
          <p:nvPr/>
        </p:nvSpPr>
        <p:spPr>
          <a:xfrm>
            <a:off x="8101584" y="2286000"/>
            <a:ext cx="1700784" cy="233172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nip Single Corner Rectangle 33"/>
          <p:cNvSpPr/>
          <p:nvPr/>
        </p:nvSpPr>
        <p:spPr>
          <a:xfrm>
            <a:off x="8641080" y="2560320"/>
            <a:ext cx="621792" cy="621792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1080" y="2569464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3024" y="3310128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Evaluation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2" y="4096512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Temuan &amp; rekomendasi</a:t>
            </a:r>
          </a:p>
        </p:txBody>
      </p:sp>
      <p:sp>
        <p:nvSpPr>
          <p:cNvPr id="38" name="Chevron 37"/>
          <p:cNvSpPr/>
          <p:nvPr/>
        </p:nvSpPr>
        <p:spPr>
          <a:xfrm>
            <a:off x="9811512" y="3310128"/>
            <a:ext cx="118872" cy="109728"/>
          </a:xfrm>
          <a:prstGeom prst="chevron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Snip Single Corner Rectangle 38"/>
          <p:cNvSpPr/>
          <p:nvPr/>
        </p:nvSpPr>
        <p:spPr>
          <a:xfrm>
            <a:off x="9921240" y="2286000"/>
            <a:ext cx="1700784" cy="233172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nip Single Corner Rectangle 39"/>
          <p:cNvSpPr/>
          <p:nvPr/>
        </p:nvSpPr>
        <p:spPr>
          <a:xfrm>
            <a:off x="10460736" y="2560320"/>
            <a:ext cx="621792" cy="621792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60736" y="2569464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12680" y="3310128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Deployment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30968" y="4096512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Dashboard monitoring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48920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A98A0"/>
                </a:solidFill>
                <a:latin typeface="Segoe UI"/>
              </a:rPr>
              <a:t>Pendekatan ini memastikan analisis selalu berangkat dari pertanyaan bisnis dan diakhiri dengan artefak yang dapat dipantau, bukan sekadar grafik lepas.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MANAJEMEN PROYEK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PELACAKAN PEKERJAAN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GITHUB PROJECTS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Segoe UI"/>
              </a:rPr>
              <a:t>Pekerjaan kelompok dikelola pada </a:t>
            </a:r>
            <a:r>
              <a:rPr sz="1400" b="1">
                <a:solidFill>
                  <a:srgbClr val="1EA7DD"/>
                </a:solidFill>
                <a:latin typeface="Segoe UI Semibold"/>
              </a:rPr>
              <a:t>board kanban GitHub Projects</a:t>
            </a:r>
            <a:r>
              <a:rPr sz="1400" b="0">
                <a:solidFill>
                  <a:srgbClr val="1E2C33"/>
                </a:solidFill>
                <a:latin typeface="Segoe UI"/>
              </a:rPr>
              <a:t>, dengan setiap fase CRISP-DM dari kedua studi kasus dipecah menjadi kartu tugas dan dilacak melalui kolom </a:t>
            </a:r>
            <a:r>
              <a:rPr sz="1400" b="1">
                <a:solidFill>
                  <a:srgbClr val="123047"/>
                </a:solidFill>
                <a:latin typeface="Segoe UI Semibold"/>
              </a:rPr>
              <a:t>Todo → In Progress → Done</a:t>
            </a:r>
            <a:r>
              <a:rPr sz="1400" b="0">
                <a:solidFill>
                  <a:srgbClr val="1E2C33"/>
                </a:solidFill>
                <a:latin typeface="Segoe UI"/>
              </a:rPr>
              <a:t>.</a:t>
            </a:r>
          </a:p>
        </p:txBody>
      </p:sp>
      <p:sp>
        <p:nvSpPr>
          <p:cNvPr id="9" name="Snip Single Corner Rectangle 8"/>
          <p:cNvSpPr/>
          <p:nvPr/>
        </p:nvSpPr>
        <p:spPr>
          <a:xfrm>
            <a:off x="822960" y="2468880"/>
            <a:ext cx="3456432" cy="155448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2724912"/>
            <a:ext cx="457200" cy="7315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8803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23047"/>
                </a:solidFill>
                <a:latin typeface="Segoe UI Black"/>
              </a:rPr>
              <a:t>Transparansi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8A0"/>
                </a:solidFill>
                <a:latin typeface="Segoe UI"/>
              </a:rPr>
              <a:t>Status tiap pekerjaan terlihat satu layar, tidak ada tugas yang "hilang".</a:t>
            </a:r>
          </a:p>
        </p:txBody>
      </p:sp>
      <p:sp>
        <p:nvSpPr>
          <p:cNvPr id="13" name="Snip Single Corner Rectangle 12"/>
          <p:cNvSpPr/>
          <p:nvPr/>
        </p:nvSpPr>
        <p:spPr>
          <a:xfrm>
            <a:off x="4453128" y="2468880"/>
            <a:ext cx="3456432" cy="155448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27448" y="2724912"/>
            <a:ext cx="457200" cy="7315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28803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23047"/>
                </a:solidFill>
                <a:latin typeface="Segoe UI Black"/>
              </a:rPr>
              <a:t>Akuntabilitas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3273552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8A0"/>
                </a:solidFill>
                <a:latin typeface="Segoe UI"/>
              </a:rPr>
              <a:t>Pemecahan tugas yang jelas memudahkan pembagian kerja antar anggota.</a:t>
            </a:r>
          </a:p>
        </p:txBody>
      </p:sp>
      <p:sp>
        <p:nvSpPr>
          <p:cNvPr id="17" name="Snip Single Corner Rectangle 16"/>
          <p:cNvSpPr/>
          <p:nvPr/>
        </p:nvSpPr>
        <p:spPr>
          <a:xfrm>
            <a:off x="8083296" y="2468880"/>
            <a:ext cx="3456432" cy="155448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57616" y="2724912"/>
            <a:ext cx="457200" cy="7315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8803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23047"/>
                </a:solidFill>
                <a:latin typeface="Segoe UI Black"/>
              </a:rPr>
              <a:t>Keterlacakan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273552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8A0"/>
                </a:solidFill>
                <a:latin typeface="Segoe UI"/>
              </a:rPr>
              <a:t>Progres terukur (12 selesai, 2 berjalan, 2 antre) dan terhubung ke repositori kode.</a:t>
            </a:r>
          </a:p>
        </p:txBody>
      </p:sp>
      <p:sp>
        <p:nvSpPr>
          <p:cNvPr id="21" name="Snip Single Corner Rectangle 20"/>
          <p:cNvSpPr/>
          <p:nvPr/>
        </p:nvSpPr>
        <p:spPr>
          <a:xfrm>
            <a:off x="822960" y="4343400"/>
            <a:ext cx="10543032" cy="1371600"/>
          </a:xfrm>
          <a:prstGeom prst="snip1Rect">
            <a:avLst>
              <a:gd name="adj" fmla="val 5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5262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TAUTAN PROYEK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846320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EC2CC"/>
                </a:solidFill>
                <a:latin typeface="Segoe UI"/>
              </a:rPr>
              <a:t>Repository :  </a:t>
            </a:r>
            <a:r>
              <a:rPr sz="1350" b="1">
                <a:solidFill>
                  <a:srgbClr val="FFFFFF"/>
                </a:solidFill>
                <a:latin typeface="Segoe UI Semibold"/>
              </a:rPr>
              <a:t>github.com/sianida26/sti-final-project-kel5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230368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EC2CC"/>
                </a:solidFill>
                <a:latin typeface="Segoe UI"/>
              </a:rPr>
              <a:t>Board        :  </a:t>
            </a:r>
            <a:r>
              <a:rPr sz="1350" b="1">
                <a:solidFill>
                  <a:srgbClr val="FFFFFF"/>
                </a:solidFill>
                <a:latin typeface="Segoe UI Semibold"/>
              </a:rPr>
              <a:t>github.com/users/sianida26/projects/2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MANAJEMEN PROYEK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BOARD KANBAN: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STATUS PEKERJAAN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06</a:t>
            </a:r>
          </a:p>
        </p:txBody>
      </p:sp>
      <p:sp>
        <p:nvSpPr>
          <p:cNvPr id="8" name="Snip Single Corner Rectangle 7"/>
          <p:cNvSpPr/>
          <p:nvPr/>
        </p:nvSpPr>
        <p:spPr>
          <a:xfrm>
            <a:off x="777240" y="1371600"/>
            <a:ext cx="5027257" cy="4818888"/>
          </a:xfrm>
          <a:prstGeom prst="snip1Rect">
            <a:avLst>
              <a:gd name="adj" fmla="val 3000"/>
            </a:avLst>
          </a:prstGeom>
          <a:noFill/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1426464"/>
            <a:ext cx="4917529" cy="4709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0" y="151790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RINGKASAN STATUS</a:t>
            </a:r>
          </a:p>
        </p:txBody>
      </p:sp>
      <p:sp>
        <p:nvSpPr>
          <p:cNvPr id="11" name="Snip Single Corner Rectangle 10"/>
          <p:cNvSpPr/>
          <p:nvPr/>
        </p:nvSpPr>
        <p:spPr>
          <a:xfrm>
            <a:off x="8503920" y="1938528"/>
            <a:ext cx="3154680" cy="841248"/>
          </a:xfrm>
          <a:prstGeom prst="snip1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03920" y="2048256"/>
            <a:ext cx="91440" cy="62179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1975104"/>
            <a:ext cx="10972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EA7DD"/>
                </a:solidFill>
                <a:latin typeface="Segoe UI Black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1975104"/>
            <a:ext cx="1645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3047"/>
                </a:solidFill>
                <a:latin typeface="Segoe UI Semibold"/>
              </a:rPr>
              <a:t>Done</a:t>
            </a:r>
          </a:p>
        </p:txBody>
      </p:sp>
      <p:sp>
        <p:nvSpPr>
          <p:cNvPr id="15" name="Snip Single Corner Rectangle 14"/>
          <p:cNvSpPr/>
          <p:nvPr/>
        </p:nvSpPr>
        <p:spPr>
          <a:xfrm>
            <a:off x="8503920" y="2907792"/>
            <a:ext cx="3154680" cy="841248"/>
          </a:xfrm>
          <a:prstGeom prst="snip1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03920" y="3017520"/>
            <a:ext cx="91440" cy="621792"/>
          </a:xfrm>
          <a:prstGeom prst="rect">
            <a:avLst/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2944368"/>
            <a:ext cx="10972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3047"/>
                </a:solidFill>
                <a:latin typeface="Segoe UI Blac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2944368"/>
            <a:ext cx="1645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3047"/>
                </a:solidFill>
                <a:latin typeface="Segoe UI Semibold"/>
              </a:rPr>
              <a:t>In Progress</a:t>
            </a:r>
          </a:p>
        </p:txBody>
      </p:sp>
      <p:sp>
        <p:nvSpPr>
          <p:cNvPr id="19" name="Snip Single Corner Rectangle 18"/>
          <p:cNvSpPr/>
          <p:nvPr/>
        </p:nvSpPr>
        <p:spPr>
          <a:xfrm>
            <a:off x="8503920" y="3877056"/>
            <a:ext cx="3154680" cy="841248"/>
          </a:xfrm>
          <a:prstGeom prst="snip1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3920" y="3986784"/>
            <a:ext cx="91440" cy="621792"/>
          </a:xfrm>
          <a:prstGeom prst="rect">
            <a:avLst/>
          </a:prstGeom>
          <a:solidFill>
            <a:srgbClr val="8A9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3913632"/>
            <a:ext cx="10972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8A98A0"/>
                </a:solidFill>
                <a:latin typeface="Segoe UI Black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3913632"/>
            <a:ext cx="1645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3047"/>
                </a:solidFill>
                <a:latin typeface="Segoe UI Semibold"/>
              </a:rPr>
              <a:t>Todo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956048"/>
            <a:ext cx="3154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EA7DD"/>
                </a:solidFill>
                <a:latin typeface="Segoe UI Semibold"/>
              </a:rPr>
              <a:t>16 kartu total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Kartu = fase CRISP-DM kedua studi kasus + setup, dokumentasi, dan pengumpulan.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MANAJEMEN PROYEK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PEMETAAN TUGAS KE FASE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CRISP-DM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600200"/>
            <a:ext cx="3657600" cy="640080"/>
          </a:xfrm>
          <a:prstGeom prst="rect">
            <a:avLst/>
          </a:prstGeom>
          <a:solidFill>
            <a:srgbClr val="123047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600200"/>
            <a:ext cx="3383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Fase CRISP-DM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600200"/>
            <a:ext cx="3520440" cy="640080"/>
          </a:xfrm>
          <a:prstGeom prst="rect">
            <a:avLst/>
          </a:prstGeom>
          <a:solidFill>
            <a:srgbClr val="123047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600200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Inventory CGS-1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600200"/>
            <a:ext cx="3456432" cy="640080"/>
          </a:xfrm>
          <a:prstGeom prst="rect">
            <a:avLst/>
          </a:prstGeom>
          <a:solidFill>
            <a:srgbClr val="123047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65592" y="1600200"/>
            <a:ext cx="3182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Penjualan Ritel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40280"/>
            <a:ext cx="3657600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240280"/>
            <a:ext cx="3383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3047"/>
                </a:solidFill>
                <a:latin typeface="Segoe UI Semibold"/>
              </a:rPr>
              <a:t>Business Understanding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240280"/>
            <a:ext cx="3520440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45152" y="2240280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C33"/>
                </a:solidFill>
                <a:latin typeface="Segoe UI"/>
              </a:rPr>
              <a:t>Definisi 3 business question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1000" y="2240280"/>
            <a:ext cx="3456432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2240280"/>
            <a:ext cx="3182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C33"/>
                </a:solidFill>
                <a:latin typeface="Segoe UI"/>
              </a:rPr>
              <a:t>Definisi 4 business question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2880360"/>
            <a:ext cx="36576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" y="2880360"/>
            <a:ext cx="3383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3047"/>
                </a:solidFill>
                <a:latin typeface="Segoe UI Semibold"/>
              </a:rPr>
              <a:t>Data Understanding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2880360"/>
            <a:ext cx="35204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5152" y="2880360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C33"/>
                </a:solidFill>
                <a:latin typeface="Segoe UI"/>
              </a:rPr>
              <a:t>Load Excel, profil missing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1000" y="2880360"/>
            <a:ext cx="345643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2880360"/>
            <a:ext cx="3182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C33"/>
                </a:solidFill>
                <a:latin typeface="Segoe UI"/>
              </a:rPr>
              <a:t>Ingest data mingguan, kamus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3520440"/>
            <a:ext cx="3657600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3520440"/>
            <a:ext cx="3383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3047"/>
                </a:solidFill>
                <a:latin typeface="Segoe UI Semibold"/>
              </a:rPr>
              <a:t>Data Preparation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3520440"/>
            <a:ext cx="3520440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45152" y="3520440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C33"/>
                </a:solidFill>
                <a:latin typeface="Segoe UI"/>
              </a:rPr>
              <a:t>Cleaning, flag kalibrasi/serial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1000" y="3520440"/>
            <a:ext cx="3456432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592" y="3520440"/>
            <a:ext cx="3182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C33"/>
                </a:solidFill>
                <a:latin typeface="Segoe UI"/>
              </a:rPr>
              <a:t>KPI turunan: AOV, MA, disc%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160520"/>
            <a:ext cx="36576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4160520"/>
            <a:ext cx="3383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3047"/>
                </a:solidFill>
                <a:latin typeface="Segoe UI Semibold"/>
              </a:rPr>
              <a:t>Modeling / Analisis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60" y="4160520"/>
            <a:ext cx="35204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45152" y="4160520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C33"/>
                </a:solidFill>
                <a:latin typeface="Segoe UI"/>
              </a:rPr>
              <a:t>Status, vendor, coverage kalibrasi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01000" y="4160520"/>
            <a:ext cx="345643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65592" y="4160520"/>
            <a:ext cx="3182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C33"/>
                </a:solidFill>
                <a:latin typeface="Segoe UI"/>
              </a:rPr>
              <a:t>Tren, musiman, AOV, diskon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4800600"/>
            <a:ext cx="3657600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" y="4800600"/>
            <a:ext cx="3383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3047"/>
                </a:solidFill>
                <a:latin typeface="Segoe UI Semibold"/>
              </a:rPr>
              <a:t>Evaluation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80560" y="4800600"/>
            <a:ext cx="3520440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45152" y="4800600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C33"/>
                </a:solidFill>
                <a:latin typeface="Segoe UI"/>
              </a:rPr>
              <a:t>Gap kalibrasi, watchlist aset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01000" y="4800600"/>
            <a:ext cx="3456432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65592" y="4800600"/>
            <a:ext cx="3182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C33"/>
                </a:solidFill>
                <a:latin typeface="Segoe UI"/>
              </a:rPr>
              <a:t>Pertumbuhan, over-discounting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" y="5440680"/>
            <a:ext cx="36576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552" y="5440680"/>
            <a:ext cx="3383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3047"/>
                </a:solidFill>
                <a:latin typeface="Segoe UI Semibold"/>
              </a:rPr>
              <a:t>Deployment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60" y="5440680"/>
            <a:ext cx="35204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45152" y="5440680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C33"/>
                </a:solidFill>
                <a:latin typeface="Segoe UI"/>
              </a:rPr>
              <a:t>Dashboard Looker Studio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01000" y="5440680"/>
            <a:ext cx="345643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65592" y="5440680"/>
            <a:ext cx="3182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C33"/>
                </a:solidFill>
                <a:latin typeface="Segoe UI"/>
              </a:rPr>
              <a:t>Dashboard Plotly interaktif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" y="2240280"/>
            <a:ext cx="54864" cy="3840479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STUDI KASUS 1 · INVENTORY CGS-1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KONTEKS &amp;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BUSINESS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17904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A7DD"/>
                </a:solidFill>
                <a:latin typeface="Segoe UI Semibold"/>
              </a:rPr>
              <a:t>CGS-1 (Custody Gas Station)</a:t>
            </a:r>
            <a:r>
              <a:rPr sz="1400" b="0">
                <a:solidFill>
                  <a:srgbClr val="1E2C33"/>
                </a:solidFill>
                <a:latin typeface="Segoe UI"/>
              </a:rPr>
              <a:t> memiliki sejumlah instrumen lapangan yang menopang keandalan, keselamatan, dan kepatuhan operasi. Data tersedia namun belum diolah dan kualitasnya belum dievaluasi.</a:t>
            </a:r>
          </a:p>
        </p:txBody>
      </p:sp>
      <p:sp>
        <p:nvSpPr>
          <p:cNvPr id="9" name="Snip Single Corner Rectangle 8"/>
          <p:cNvSpPr/>
          <p:nvPr/>
        </p:nvSpPr>
        <p:spPr>
          <a:xfrm>
            <a:off x="822960" y="2606040"/>
            <a:ext cx="914400" cy="914400"/>
          </a:xfrm>
          <a:prstGeom prst="snip1Rect">
            <a:avLst>
              <a:gd name="adj" fmla="val 20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24328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A7DD"/>
                </a:solidFill>
                <a:latin typeface="Segoe UI Black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734056"/>
            <a:ext cx="9418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23047"/>
                </a:solidFill>
                <a:latin typeface="Segoe UI Semibold"/>
              </a:rPr>
              <a:t>Komposisi &amp; status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8A98A0"/>
                </a:solidFill>
                <a:latin typeface="Segoe UI"/>
              </a:rPr>
              <a:t>Bagaimana sebaran instrumen aktif vs tidak aktif?</a:t>
            </a:r>
          </a:p>
        </p:txBody>
      </p:sp>
      <p:sp>
        <p:nvSpPr>
          <p:cNvPr id="12" name="Snip Single Corner Rectangle 11"/>
          <p:cNvSpPr/>
          <p:nvPr/>
        </p:nvSpPr>
        <p:spPr>
          <a:xfrm>
            <a:off x="822960" y="3666744"/>
            <a:ext cx="914400" cy="914400"/>
          </a:xfrm>
          <a:prstGeom prst="snip1Rect">
            <a:avLst>
              <a:gd name="adj" fmla="val 20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685031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A7DD"/>
                </a:solidFill>
                <a:latin typeface="Segoe UI Black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794759"/>
            <a:ext cx="9418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23047"/>
                </a:solidFill>
                <a:latin typeface="Segoe UI Semibold"/>
              </a:rPr>
              <a:t>Jenis &amp; vendor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8A98A0"/>
                </a:solidFill>
                <a:latin typeface="Segoe UI"/>
              </a:rPr>
              <a:t>Equipment class dan manufacturer apa yang dominan (ketergantungan vendor)?</a:t>
            </a:r>
          </a:p>
        </p:txBody>
      </p:sp>
      <p:sp>
        <p:nvSpPr>
          <p:cNvPr id="15" name="Snip Single Corner Rectangle 14"/>
          <p:cNvSpPr/>
          <p:nvPr/>
        </p:nvSpPr>
        <p:spPr>
          <a:xfrm>
            <a:off x="822960" y="4727448"/>
            <a:ext cx="914400" cy="914400"/>
          </a:xfrm>
          <a:prstGeom prst="snip1Rect">
            <a:avLst>
              <a:gd name="adj" fmla="val 20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45736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A7DD"/>
                </a:solidFill>
                <a:latin typeface="Segoe UI Black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855464"/>
            <a:ext cx="9418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23047"/>
                </a:solidFill>
                <a:latin typeface="Segoe UI Semibold"/>
              </a:rPr>
              <a:t>Kelengkapan kalibrasi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8A98A0"/>
                </a:solidFill>
                <a:latin typeface="Segoe UI"/>
              </a:rPr>
              <a:t>Instrumen mana yang belum punya data kalibrasi (potensi gap keselamatan/kepatuhan)?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STUDI KASUS 1 · INVENTORY CGS-1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TEMUAN &amp;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REKOMENDASI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A7DD"/>
                </a:solidFill>
                <a:latin typeface="Segoe UI Semibold"/>
              </a:rPr>
              <a:t>TEMUAN UTAMA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47088"/>
            <a:ext cx="52578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00">
                <a:solidFill>
                  <a:srgbClr val="1EA7DD"/>
                </a:solidFill>
                <a:latin typeface="Segoe UI"/>
              </a:rPr>
              <a:t>▪  </a:t>
            </a:r>
            <a:r>
              <a:rPr sz="1300">
                <a:solidFill>
                  <a:srgbClr val="1E2C33"/>
                </a:solidFill>
                <a:latin typeface="Segoe UI"/>
              </a:rPr>
              <a:t>Status: mayoritas instrumen Active (~94%), ketersediaan aset baik.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00">
                <a:solidFill>
                  <a:srgbClr val="1EA7DD"/>
                </a:solidFill>
                <a:latin typeface="Segoe UI"/>
              </a:rPr>
              <a:t>▪  </a:t>
            </a:r>
            <a:r>
              <a:rPr sz="1300">
                <a:solidFill>
                  <a:srgbClr val="1E2C33"/>
                </a:solidFill>
                <a:latin typeface="Segoe UI"/>
              </a:rPr>
              <a:t>Komposisi didominasi Actuator &amp; Pressure Transmitter; vendor terkonsentrasi pada Rosemount &amp; Honeywell → ada ketergantungan vendor.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00">
                <a:solidFill>
                  <a:srgbClr val="1EA7DD"/>
                </a:solidFill>
                <a:latin typeface="Segoe UI"/>
              </a:rPr>
              <a:t>▪  </a:t>
            </a:r>
            <a:r>
              <a:rPr sz="1300">
                <a:solidFill>
                  <a:srgbClr val="1E2C33"/>
                </a:solidFill>
                <a:latin typeface="Segoe UI"/>
              </a:rPr>
              <a:t>Insight utama: gap data kalibrasi signifikan; sebagian instrumen tidak memiliki Calibrate Range tercatat.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00">
                <a:solidFill>
                  <a:srgbClr val="1EA7DD"/>
                </a:solidFill>
                <a:latin typeface="Segoe UI"/>
              </a:rPr>
              <a:t>▪  </a:t>
            </a:r>
            <a:r>
              <a:rPr sz="1300">
                <a:solidFill>
                  <a:srgbClr val="1E2C33"/>
                </a:solidFill>
                <a:latin typeface="Segoe UI"/>
              </a:rPr>
              <a:t>Instrumen Active tanpa data kalibrasi menjadi watchlist prioritas (risiko kepatuhan/keselamatan).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00">
                <a:solidFill>
                  <a:srgbClr val="1EA7DD"/>
                </a:solidFill>
                <a:latin typeface="Segoe UI"/>
              </a:rPr>
              <a:t>▪  </a:t>
            </a:r>
            <a:r>
              <a:rPr sz="1300">
                <a:solidFill>
                  <a:srgbClr val="1E2C33"/>
                </a:solidFill>
                <a:latin typeface="Segoe UI"/>
              </a:rPr>
              <a:t>Sebagian Serial Number kosong → menyulitkan keterlacakan aset &amp; klaim garansi.</a:t>
            </a:r>
          </a:p>
        </p:txBody>
      </p:sp>
      <p:sp>
        <p:nvSpPr>
          <p:cNvPr id="10" name="Snip Single Corner Rectangle 9"/>
          <p:cNvSpPr/>
          <p:nvPr/>
        </p:nvSpPr>
        <p:spPr>
          <a:xfrm>
            <a:off x="6400800" y="1417320"/>
            <a:ext cx="4965192" cy="4617720"/>
          </a:xfrm>
          <a:prstGeom prst="snip1Rect">
            <a:avLst>
              <a:gd name="adj" fmla="val 5000"/>
            </a:avLst>
          </a:prstGeom>
          <a:solidFill>
            <a:srgbClr val="F3F7F9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16459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A7DD"/>
                </a:solidFill>
                <a:latin typeface="Segoe UI Semibold"/>
              </a:rPr>
              <a:t>REKOMENDASI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048256"/>
            <a:ext cx="43891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Lengkapi Calibrate Range &amp; Serial Number untuk instrumen prioritas (Active tanpa kalibrasi).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Jadikan % cakupan kalibrasi sebagai KPI monitoring berkala di dashboard.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Standardisasi input data di sumber untuk menghindari field kosong.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4846320"/>
            <a:ext cx="4325112" cy="18288"/>
          </a:xfrm>
          <a:prstGeom prst="rect">
            <a:avLst/>
          </a:prstGeom>
          <a:solidFill>
            <a:srgbClr val="D9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983480"/>
            <a:ext cx="4297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Keterbatasan:  </a:t>
            </a:r>
            <a:r>
              <a:rPr sz="1100" b="0">
                <a:solidFill>
                  <a:srgbClr val="8A98A0"/>
                </a:solidFill>
                <a:latin typeface="Segoe UI"/>
              </a:rPr>
              <a:t>sampel kecil (18 instrumen), satu area, snapshot satu waktu → analisis deskriptif, belum prediktif.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STUDI KASUS 2 · PENJUALAN RITEL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KONTEKS &amp;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BUSINESS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17904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A7DD"/>
                </a:solidFill>
                <a:latin typeface="Segoe UI Semibold"/>
              </a:rPr>
              <a:t>Sebuah retailer online B2C</a:t>
            </a:r>
            <a:r>
              <a:rPr sz="1400" b="0">
                <a:solidFill>
                  <a:srgbClr val="1E2C33"/>
                </a:solidFill>
                <a:latin typeface="Segoe UI"/>
              </a:rPr>
              <a:t> ingin memahami kinerja penjualannya selama ~3,5 tahun (data agregat mingguan, anonim) untuk mendukung keputusan stok, promo, dan target.</a:t>
            </a:r>
          </a:p>
        </p:txBody>
      </p:sp>
      <p:sp>
        <p:nvSpPr>
          <p:cNvPr id="9" name="Snip Single Corner Rectangle 8"/>
          <p:cNvSpPr/>
          <p:nvPr/>
        </p:nvSpPr>
        <p:spPr>
          <a:xfrm>
            <a:off x="822960" y="2560320"/>
            <a:ext cx="841248" cy="786384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78608"/>
            <a:ext cx="841248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A7DD"/>
                </a:solidFill>
                <a:latin typeface="Segoe UI Black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633472"/>
            <a:ext cx="9418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23047"/>
                </a:solidFill>
                <a:latin typeface="Segoe UI Semibold"/>
              </a:rPr>
              <a:t>Tren &amp; pertumbuhan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Bagaimana tren revenue, transaksi, dan pelanggan dari waktu ke waktu?</a:t>
            </a:r>
          </a:p>
        </p:txBody>
      </p:sp>
      <p:sp>
        <p:nvSpPr>
          <p:cNvPr id="12" name="Snip Single Corner Rectangle 11"/>
          <p:cNvSpPr/>
          <p:nvPr/>
        </p:nvSpPr>
        <p:spPr>
          <a:xfrm>
            <a:off x="822960" y="3456432"/>
            <a:ext cx="841248" cy="786384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841248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A7DD"/>
                </a:solidFill>
                <a:latin typeface="Segoe UI Black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529584"/>
            <a:ext cx="9418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23047"/>
                </a:solidFill>
                <a:latin typeface="Segoe UI Semibold"/>
              </a:rPr>
              <a:t>Pendorong revenue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Pertumbuhan ditarik oleh volume transaksi atau nilai per transaksi (AOV)?</a:t>
            </a:r>
          </a:p>
        </p:txBody>
      </p:sp>
      <p:sp>
        <p:nvSpPr>
          <p:cNvPr id="15" name="Snip Single Corner Rectangle 14"/>
          <p:cNvSpPr/>
          <p:nvPr/>
        </p:nvSpPr>
        <p:spPr>
          <a:xfrm>
            <a:off x="822960" y="4352544"/>
            <a:ext cx="841248" cy="786384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370831"/>
            <a:ext cx="841248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A7DD"/>
                </a:solidFill>
                <a:latin typeface="Segoe UI Black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425696"/>
            <a:ext cx="9418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23047"/>
                </a:solidFill>
                <a:latin typeface="Segoe UI Semibold"/>
              </a:rPr>
              <a:t>Pola musiman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Adakah bulan ramai/sepi untuk perencanaan stok &amp; campaign?</a:t>
            </a:r>
          </a:p>
        </p:txBody>
      </p:sp>
      <p:sp>
        <p:nvSpPr>
          <p:cNvPr id="18" name="Snip Single Corner Rectangle 17"/>
          <p:cNvSpPr/>
          <p:nvPr/>
        </p:nvSpPr>
        <p:spPr>
          <a:xfrm>
            <a:off x="822960" y="5248656"/>
            <a:ext cx="841248" cy="786384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66944"/>
            <a:ext cx="841248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A7DD"/>
                </a:solidFill>
                <a:latin typeface="Segoe UI Black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21808"/>
            <a:ext cx="9418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23047"/>
                </a:solidFill>
                <a:latin typeface="Segoe UI Semibold"/>
              </a:rPr>
              <a:t>Efektivitas diskon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Seberapa efektif strategi diskon terhadap revenue?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STUDI KASUS 2 · PENJUALAN RITEL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DASHBOARD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INTERAKTIF (PLOTLY)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11</a:t>
            </a:r>
          </a:p>
        </p:txBody>
      </p:sp>
      <p:sp>
        <p:nvSpPr>
          <p:cNvPr id="8" name="Snip Single Corner Rectangle 7"/>
          <p:cNvSpPr/>
          <p:nvPr/>
        </p:nvSpPr>
        <p:spPr>
          <a:xfrm>
            <a:off x="777240" y="1371600"/>
            <a:ext cx="4125290" cy="4818888"/>
          </a:xfrm>
          <a:prstGeom prst="snip1Rect">
            <a:avLst>
              <a:gd name="adj" fmla="val 3000"/>
            </a:avLst>
          </a:prstGeom>
          <a:noFill/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otly_dashboard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1426464"/>
            <a:ext cx="4015562" cy="4709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9146" y="1517904"/>
            <a:ext cx="60794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A7DD"/>
                </a:solidFill>
                <a:latin typeface="Segoe UI Semibold"/>
              </a:rPr>
              <a:t>KOMPONEN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9146" y="1920240"/>
            <a:ext cx="6079413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Scorecard KPI: revenue, transaksi, AOV, rata-rata diskon.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Tren revenue mingguan + rata-rata 4 minggu (range slider, dropdown tahun).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Revenue per tahun &amp; pola musiman per bulan.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AOV per tahun &amp; scatter diskon vs revenue.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9146" y="4983480"/>
            <a:ext cx="607941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A7DD"/>
                </a:solidFill>
                <a:latin typeface="Segoe UI Semibold"/>
              </a:rPr>
              <a:t>Interaktif:  </a:t>
            </a:r>
            <a:r>
              <a:rPr sz="1150" b="0">
                <a:solidFill>
                  <a:srgbClr val="8A98A0"/>
                </a:solidFill>
                <a:latin typeface="Segoe UI"/>
              </a:rPr>
              <a:t>hover, zoom, filter tahun, langsung di notebook.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STUDI KASUS 2 · PENJUALAN RITEL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TEMUAN &amp;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REKOMENDASI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12</a:t>
            </a:r>
          </a:p>
        </p:txBody>
      </p:sp>
      <p:sp>
        <p:nvSpPr>
          <p:cNvPr id="8" name="Snip Single Corner Rectangle 7"/>
          <p:cNvSpPr/>
          <p:nvPr/>
        </p:nvSpPr>
        <p:spPr>
          <a:xfrm>
            <a:off x="822960" y="1463040"/>
            <a:ext cx="2542032" cy="1371600"/>
          </a:xfrm>
          <a:prstGeom prst="snip1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737360"/>
            <a:ext cx="457200" cy="7315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23047"/>
                </a:solidFill>
                <a:latin typeface="Segoe UI Black"/>
              </a:rPr>
              <a:t>5×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359152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Pertumbuhan revenue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2023 → 2025</a:t>
            </a:r>
          </a:p>
        </p:txBody>
      </p:sp>
      <p:sp>
        <p:nvSpPr>
          <p:cNvPr id="12" name="Snip Single Corner Rectangle 11"/>
          <p:cNvSpPr/>
          <p:nvPr/>
        </p:nvSpPr>
        <p:spPr>
          <a:xfrm>
            <a:off x="3493008" y="1463040"/>
            <a:ext cx="2542032" cy="1371600"/>
          </a:xfrm>
          <a:prstGeom prst="snip1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21608" y="1737360"/>
            <a:ext cx="457200" cy="7315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21608" y="1874519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23047"/>
                </a:solidFill>
                <a:latin typeface="Segoe UI Black"/>
              </a:rPr>
              <a:t>AOV 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608" y="2359152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Pendorong utama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(bukan volume)</a:t>
            </a:r>
          </a:p>
        </p:txBody>
      </p:sp>
      <p:sp>
        <p:nvSpPr>
          <p:cNvPr id="16" name="Snip Single Corner Rectangle 15"/>
          <p:cNvSpPr/>
          <p:nvPr/>
        </p:nvSpPr>
        <p:spPr>
          <a:xfrm>
            <a:off x="6163056" y="1463040"/>
            <a:ext cx="2542032" cy="1371600"/>
          </a:xfrm>
          <a:prstGeom prst="snip1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91656" y="1737360"/>
            <a:ext cx="457200" cy="7315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1874519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23047"/>
                </a:solidFill>
                <a:latin typeface="Segoe UI Black"/>
              </a:rPr>
              <a:t>~1,3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2359152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Unit per transaksi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(keranjang kecil)</a:t>
            </a:r>
          </a:p>
        </p:txBody>
      </p:sp>
      <p:sp>
        <p:nvSpPr>
          <p:cNvPr id="20" name="Snip Single Corner Rectangle 19"/>
          <p:cNvSpPr/>
          <p:nvPr/>
        </p:nvSpPr>
        <p:spPr>
          <a:xfrm>
            <a:off x="8833104" y="1463040"/>
            <a:ext cx="2542032" cy="1371600"/>
          </a:xfrm>
          <a:prstGeom prst="snip1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61704" y="1737360"/>
            <a:ext cx="457200" cy="7315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61704" y="1874519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23047"/>
                </a:solidFill>
                <a:latin typeface="Segoe UI Black"/>
              </a:rPr>
              <a:t>Jun–Jul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1704" y="2359152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Puncak musiman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(juga Januari)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12724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A7DD"/>
                </a:solidFill>
                <a:latin typeface="Segoe UI Semibold"/>
              </a:rPr>
              <a:t>TEMUAN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511296"/>
            <a:ext cx="5257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Revenue tahunan naik ~5× dalam dua tahun (2023 → 2025).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Pendorong = nilai (AOV naik tajam), bukan sekadar jumlah transaksi.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Diskon belum efektif: rata-rata ~36% namun korelasi diskon-revenue ~0 → indikasi over-discounting.</a:t>
            </a:r>
          </a:p>
        </p:txBody>
      </p:sp>
      <p:sp>
        <p:nvSpPr>
          <p:cNvPr id="26" name="Snip Single Corner Rectangle 25"/>
          <p:cNvSpPr/>
          <p:nvPr/>
        </p:nvSpPr>
        <p:spPr>
          <a:xfrm>
            <a:off x="6400800" y="3127248"/>
            <a:ext cx="4965192" cy="2907792"/>
          </a:xfrm>
          <a:prstGeom prst="snip1Rect">
            <a:avLst>
              <a:gd name="adj" fmla="val 6000"/>
            </a:avLst>
          </a:prstGeom>
          <a:solidFill>
            <a:srgbClr val="F3F7F9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3310128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A7DD"/>
                </a:solidFill>
                <a:latin typeface="Segoe UI Semibold"/>
              </a:rPr>
              <a:t>REKOMENDASI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712463"/>
            <a:ext cx="43891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00">
                <a:solidFill>
                  <a:srgbClr val="1EA7DD"/>
                </a:solidFill>
                <a:latin typeface="Segoe UI"/>
              </a:rPr>
              <a:t>▪  </a:t>
            </a:r>
            <a:r>
              <a:rPr sz="1200">
                <a:solidFill>
                  <a:srgbClr val="1E2C33"/>
                </a:solidFill>
                <a:latin typeface="Segoe UI"/>
              </a:rPr>
              <a:t>Pertahankan momentum AOV via bundling/upsell (keranjang masih 1,3 item).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00">
                <a:solidFill>
                  <a:srgbClr val="1EA7DD"/>
                </a:solidFill>
                <a:latin typeface="Segoe UI"/>
              </a:rPr>
              <a:t>▪  </a:t>
            </a:r>
            <a:r>
              <a:rPr sz="1200">
                <a:solidFill>
                  <a:srgbClr val="1E2C33"/>
                </a:solidFill>
                <a:latin typeface="Segoe UI"/>
              </a:rPr>
              <a:t>Evaluasi strategi diskon: uji kurangi diskon, ukur dampak ke revenue.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00">
                <a:solidFill>
                  <a:srgbClr val="1EA7DD"/>
                </a:solidFill>
                <a:latin typeface="Segoe UI"/>
              </a:rPr>
              <a:t>▪  </a:t>
            </a:r>
            <a:r>
              <a:rPr sz="1200">
                <a:solidFill>
                  <a:srgbClr val="1E2C33"/>
                </a:solidFill>
                <a:latin typeface="Segoe UI"/>
              </a:rPr>
              <a:t>Manfaatkan puncak musiman (Jun–Jul, Jan) untuk stok &amp; promo.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00">
                <a:solidFill>
                  <a:srgbClr val="1EA7DD"/>
                </a:solidFill>
                <a:latin typeface="Segoe UI"/>
              </a:rPr>
              <a:t>▪  </a:t>
            </a:r>
            <a:r>
              <a:rPr sz="1200">
                <a:solidFill>
                  <a:srgbClr val="1E2C33"/>
                </a:solidFill>
                <a:latin typeface="Segoe UI"/>
              </a:rPr>
              <a:t>Dorong akuisisi/retensi pelanggan (jumlah pelanggan relatif stagnan).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KESIMPULAN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250">
                <a:solidFill>
                  <a:srgbClr val="1EA7DD"/>
                </a:solidFill>
                <a:latin typeface="Segoe UI"/>
              </a:rPr>
              <a:t>▪  </a:t>
            </a:r>
            <a:r>
              <a:rPr sz="1450">
                <a:solidFill>
                  <a:srgbClr val="1E2C33"/>
                </a:solidFill>
                <a:latin typeface="Segoe UI"/>
              </a:rPr>
              <a:t>Pendekatan CRISP-DM berhasil mengubah dua dataset mentah menjadi artefak pemantauan yang menjawab pertanyaan bisnis nyata.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250">
                <a:solidFill>
                  <a:srgbClr val="1EA7DD"/>
                </a:solidFill>
                <a:latin typeface="Segoe UI"/>
              </a:rPr>
              <a:t>▪  </a:t>
            </a:r>
            <a:r>
              <a:rPr sz="1450">
                <a:solidFill>
                  <a:srgbClr val="1E2C33"/>
                </a:solidFill>
                <a:latin typeface="Segoe UI"/>
              </a:rPr>
              <a:t>Inventory CGS-1: aset siap (~94% aktif), namun gap data kalibrasi menjadi prioritas tindak lanjut keselamatan &amp; kepatuhan.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250">
                <a:solidFill>
                  <a:srgbClr val="1EA7DD"/>
                </a:solidFill>
                <a:latin typeface="Segoe UI"/>
              </a:rPr>
              <a:t>▪  </a:t>
            </a:r>
            <a:r>
              <a:rPr sz="1450">
                <a:solidFill>
                  <a:srgbClr val="1E2C33"/>
                </a:solidFill>
                <a:latin typeface="Segoe UI"/>
              </a:rPr>
              <a:t>Penjualan ritel: pertumbuhan kuat (~5×) ditarik kenaikan AOV; strategi diskon perlu dievaluasi (indikasi over-discounting).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250">
                <a:solidFill>
                  <a:srgbClr val="1EA7DD"/>
                </a:solidFill>
                <a:latin typeface="Segoe UI"/>
              </a:rPr>
              <a:t>▪  </a:t>
            </a:r>
            <a:r>
              <a:rPr sz="1450">
                <a:solidFill>
                  <a:srgbClr val="1E2C33"/>
                </a:solidFill>
                <a:latin typeface="Segoe UI"/>
              </a:rPr>
              <a:t>Manajemen proyek via GitHub Projects menjaga pekerjaan kelompok transparan, terbagi, dan terlacak (12 selesai · 2 berjalan · 2 antre).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250">
                <a:solidFill>
                  <a:srgbClr val="1EA7DD"/>
                </a:solidFill>
                <a:latin typeface="Segoe UI"/>
              </a:rPr>
              <a:t>▪  </a:t>
            </a:r>
            <a:r>
              <a:rPr sz="1450">
                <a:solidFill>
                  <a:srgbClr val="1E2C33"/>
                </a:solidFill>
                <a:latin typeface="Segoe UI"/>
              </a:rPr>
              <a:t>Tindak lanjut terbuka: bersihkan outlier data penjualan dan finalisasi dashboard Looker Studio inventory.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68680" y="2697480"/>
            <a:ext cx="146304" cy="914400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4688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Segoe UI Black"/>
              </a:rP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3703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EC2CC"/>
                </a:solidFill>
                <a:latin typeface="Segoe UI Semibold"/>
              </a:rPr>
              <a:t>Final Project STI · Kelompok 5 · MMT 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7C2EC"/>
                </a:solidFill>
                <a:latin typeface="Segoe UI"/>
              </a:rPr>
              <a:t>github.com/sianida26/sti-final-project-kel5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