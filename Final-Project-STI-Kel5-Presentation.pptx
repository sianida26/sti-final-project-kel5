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7830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1EA7DD"/>
                </a:solidFill>
                <a:latin typeface="Segoe UI Black"/>
              </a:rPr>
              <a:t>FINAL 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23047"/>
                </a:solidFill>
                <a:latin typeface="Segoe UI Black"/>
              </a:rPr>
              <a:t>SISTEM &amp; TEKNOLOGI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23047"/>
                </a:solidFill>
                <a:latin typeface="Segoe UI Black"/>
              </a:rPr>
              <a:t>INFORMASI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4114800"/>
            <a:ext cx="777240" cy="2743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395020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2C33"/>
                </a:solidFill>
                <a:latin typeface="Segoe UI Semibold"/>
              </a:rPr>
              <a:t>Analisis Data &amp; Dashboard Pemantauan dengan Pendekatan 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434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98A0"/>
                </a:solidFill>
                <a:latin typeface="Segoe UI Semibold"/>
              </a:rPr>
              <a:t>MAGISTER MANAJEMEN TEKNOLOGI · INSTITUT TEKNOLOGI SEPULUH NOPEMBER</a:t>
            </a:r>
          </a:p>
        </p:txBody>
      </p:sp>
      <p:sp>
        <p:nvSpPr>
          <p:cNvPr id="7" name="Snip Single Corner Rectangle 6"/>
          <p:cNvSpPr/>
          <p:nvPr/>
        </p:nvSpPr>
        <p:spPr>
          <a:xfrm>
            <a:off x="868680" y="5074920"/>
            <a:ext cx="6675120" cy="1143000"/>
          </a:xfrm>
          <a:prstGeom prst="snip1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93792"/>
            <a:ext cx="6309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KELOMPOK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23047"/>
                </a:solidFill>
                <a:latin typeface="Segoe UI Semibold"/>
              </a:rPr>
              <a:t>Moch Chesa Nur Hidayat</a:t>
            </a:r>
            <a:r>
              <a:rPr sz="1300" b="0">
                <a:solidFill>
                  <a:srgbClr val="8A98A0"/>
                </a:solidFill>
                <a:latin typeface="Segoe UI"/>
              </a:rPr>
              <a:t>    ·    [Anggota 2]    ·    [Anggota 3]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GitHub: sianida26, Misbahulmunir26, …     |     Dosen: [isi nama dosen]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732520" y="5074920"/>
            <a:ext cx="2606040" cy="1143000"/>
          </a:xfrm>
          <a:prstGeom prst="snip1Rect">
            <a:avLst>
              <a:gd name="adj" fmla="val 16000"/>
            </a:avLst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52852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A7DD"/>
                </a:solidFill>
                <a:latin typeface="Segoe UI Black"/>
              </a:rPr>
              <a:t>23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AGENDA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02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822960" y="1517904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609344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Latar Belakang &amp; Tujuan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Konteks dua studi kasus dan pertanyaan bisnis yang ingin dijawab</a:t>
            </a:r>
          </a:p>
        </p:txBody>
      </p:sp>
      <p:sp>
        <p:nvSpPr>
          <p:cNvPr id="11" name="Snip Single Corner Rectangle 10"/>
          <p:cNvSpPr/>
          <p:nvPr/>
        </p:nvSpPr>
        <p:spPr>
          <a:xfrm>
            <a:off x="822960" y="2322576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40864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1401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Metodologi CRISP-DM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Kerangka kerja pengolahan data dari awal hingga akhir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822960" y="3127248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45536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18688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Manajemen Proyek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Pelacakan pekerjaan kelompok lewat GitHub Projects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822960" y="3931920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50207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23359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Studi Kasus 1: Inventory CGS-1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Pemantauan kesiapan dan kalibrasi instrumen</a:t>
            </a:r>
          </a:p>
        </p:txBody>
      </p:sp>
      <p:sp>
        <p:nvSpPr>
          <p:cNvPr id="20" name="Snip Single Corner Rectangle 19"/>
          <p:cNvSpPr/>
          <p:nvPr/>
        </p:nvSpPr>
        <p:spPr>
          <a:xfrm>
            <a:off x="822960" y="4736592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54879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828031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Studi Kasus 2: Penjualan Ritel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Tren, pendorong revenue, musiman, dan diskon</a:t>
            </a:r>
          </a:p>
        </p:txBody>
      </p:sp>
      <p:sp>
        <p:nvSpPr>
          <p:cNvPr id="23" name="Snip Single Corner Rectangle 22"/>
          <p:cNvSpPr/>
          <p:nvPr/>
        </p:nvSpPr>
        <p:spPr>
          <a:xfrm>
            <a:off x="822960" y="5541264"/>
            <a:ext cx="914400" cy="731520"/>
          </a:xfrm>
          <a:prstGeom prst="snip1Rect">
            <a:avLst>
              <a:gd name="adj" fmla="val 18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59551"/>
            <a:ext cx="914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32703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123047"/>
                </a:solidFill>
                <a:latin typeface="Segoe UI Semibold"/>
              </a:rPr>
              <a:t>Kesimpulan &amp; Rekomendasi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Temuan utama dan langkah tindak lanjut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LATAR BELAKANG &amp;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TUJUAN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C33"/>
                </a:solidFill>
                <a:latin typeface="Segoe UI"/>
              </a:rPr>
              <a:t>Kelompok mengambil </a:t>
            </a:r>
            <a:r>
              <a:rPr sz="1400" b="1">
                <a:solidFill>
                  <a:srgbClr val="1EA7DD"/>
                </a:solidFill>
                <a:latin typeface="Segoe UI Semibold"/>
              </a:rPr>
              <a:t>dua studi kasus nyata</a:t>
            </a:r>
            <a:r>
              <a:rPr sz="1400" b="0">
                <a:solidFill>
                  <a:srgbClr val="1E2C33"/>
                </a:solidFill>
                <a:latin typeface="Segoe UI"/>
              </a:rPr>
              <a:t> dari lingkungan kerja anggota, lalu mengolah datanya secara terstruktur mengikuti CRISP-DM hingga menghasilkan dashboard pemantauan.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22960" y="2286000"/>
            <a:ext cx="4983480" cy="3749039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5568" y="2615184"/>
            <a:ext cx="548640" cy="82296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7889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35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047"/>
                </a:solidFill>
                <a:latin typeface="Segoe UI Black"/>
              </a:rPr>
              <a:t>Inventory Instrumen CGS-1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822191"/>
            <a:ext cx="4434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Memantau kesiapan instrumen lapangan (transmitter, valve, actuator) di Custody Gas Station (CGS-1).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Menyoroti status aset, ketergantungan vendor, dan kelengkapan data kalibrasi yang menyangkut keselamatan serta kepatuhan.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Hasil akhir disajikan sebagai dashboard Looker Studio.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6400800" y="2286000"/>
            <a:ext cx="4983480" cy="3749039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3408" y="2615184"/>
            <a:ext cx="548640" cy="82296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27889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035808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047"/>
                </a:solidFill>
                <a:latin typeface="Segoe UI Black"/>
              </a:rPr>
              <a:t>Kinerja Penjualan Ritel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822191"/>
            <a:ext cx="4434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Data penjualan B2C agregat mingguan sepanjang 2022–2026 (sekitar 3,5 tahun).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Menelusuri tren pertumbuhan, pendorong revenue, pola musiman, dan efektivitas diskon.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Hasil akhir disajikan sebagai dashboard interaktif Plotly.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METODOLOGI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KERANGKA KERJA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0"/>
                </a:solidFill>
                <a:latin typeface="Segoe UI"/>
              </a:rPr>
              <a:t>Kedua studi kasus dikerjakan melalui enam fase CRISP-DM secara berurutan, mulai dari pemahaman bisnis hingga penyajian dashboard.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22960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nip Single Corner Rectangle 9"/>
          <p:cNvSpPr/>
          <p:nvPr/>
        </p:nvSpPr>
        <p:spPr>
          <a:xfrm>
            <a:off x="1362456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Business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Tujuan &amp; pertanyaan bisnis</a:t>
            </a:r>
          </a:p>
        </p:txBody>
      </p:sp>
      <p:sp>
        <p:nvSpPr>
          <p:cNvPr id="14" name="Chevron 13"/>
          <p:cNvSpPr/>
          <p:nvPr/>
        </p:nvSpPr>
        <p:spPr>
          <a:xfrm>
            <a:off x="2532888" y="3310128"/>
            <a:ext cx="118872" cy="109728"/>
          </a:xfrm>
          <a:prstGeom prst="chevron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nip Single Corner Rectangle 14"/>
          <p:cNvSpPr/>
          <p:nvPr/>
        </p:nvSpPr>
        <p:spPr>
          <a:xfrm>
            <a:off x="2642616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nip Single Corner Rectangle 15"/>
          <p:cNvSpPr/>
          <p:nvPr/>
        </p:nvSpPr>
        <p:spPr>
          <a:xfrm>
            <a:off x="3182112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344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Memuat data, menilai kualitas</a:t>
            </a:r>
          </a:p>
        </p:txBody>
      </p:sp>
      <p:sp>
        <p:nvSpPr>
          <p:cNvPr id="20" name="Chevron 19"/>
          <p:cNvSpPr/>
          <p:nvPr/>
        </p:nvSpPr>
        <p:spPr>
          <a:xfrm>
            <a:off x="4352544" y="3310128"/>
            <a:ext cx="118872" cy="109728"/>
          </a:xfrm>
          <a:prstGeom prst="chevron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nip Single Corner Rectangle 20"/>
          <p:cNvSpPr/>
          <p:nvPr/>
        </p:nvSpPr>
        <p:spPr>
          <a:xfrm>
            <a:off x="4462272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nip Single Corner Rectangle 21"/>
          <p:cNvSpPr/>
          <p:nvPr/>
        </p:nvSpPr>
        <p:spPr>
          <a:xfrm>
            <a:off x="5001768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Pembersihan &amp; kolom turunan</a:t>
            </a:r>
          </a:p>
        </p:txBody>
      </p:sp>
      <p:sp>
        <p:nvSpPr>
          <p:cNvPr id="26" name="Chevron 25"/>
          <p:cNvSpPr/>
          <p:nvPr/>
        </p:nvSpPr>
        <p:spPr>
          <a:xfrm>
            <a:off x="6172200" y="3310128"/>
            <a:ext cx="118872" cy="109728"/>
          </a:xfrm>
          <a:prstGeom prst="chevron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nip Single Corner Rectangle 26"/>
          <p:cNvSpPr/>
          <p:nvPr/>
        </p:nvSpPr>
        <p:spPr>
          <a:xfrm>
            <a:off x="6281928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nip Single Corner Rectangle 27"/>
          <p:cNvSpPr/>
          <p:nvPr/>
        </p:nvSpPr>
        <p:spPr>
          <a:xfrm>
            <a:off x="6821424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Modeling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Analisis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Agregasi &amp; visualisasi</a:t>
            </a:r>
          </a:p>
        </p:txBody>
      </p:sp>
      <p:sp>
        <p:nvSpPr>
          <p:cNvPr id="32" name="Chevron 31"/>
          <p:cNvSpPr/>
          <p:nvPr/>
        </p:nvSpPr>
        <p:spPr>
          <a:xfrm>
            <a:off x="7991856" y="3310128"/>
            <a:ext cx="118872" cy="109728"/>
          </a:xfrm>
          <a:prstGeom prst="chevron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nip Single Corner Rectangle 32"/>
          <p:cNvSpPr/>
          <p:nvPr/>
        </p:nvSpPr>
        <p:spPr>
          <a:xfrm>
            <a:off x="8101584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nip Single Corner Rectangle 33"/>
          <p:cNvSpPr/>
          <p:nvPr/>
        </p:nvSpPr>
        <p:spPr>
          <a:xfrm>
            <a:off x="8641080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Temuan &amp; rekomendasi</a:t>
            </a:r>
          </a:p>
        </p:txBody>
      </p:sp>
      <p:sp>
        <p:nvSpPr>
          <p:cNvPr id="38" name="Chevron 37"/>
          <p:cNvSpPr/>
          <p:nvPr/>
        </p:nvSpPr>
        <p:spPr>
          <a:xfrm>
            <a:off x="9811512" y="3310128"/>
            <a:ext cx="118872" cy="109728"/>
          </a:xfrm>
          <a:prstGeom prst="chevron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nip Single Corner Rectangle 38"/>
          <p:cNvSpPr/>
          <p:nvPr/>
        </p:nvSpPr>
        <p:spPr>
          <a:xfrm>
            <a:off x="9921240" y="2286000"/>
            <a:ext cx="1700784" cy="233172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nip Single Corner Rectangle 39"/>
          <p:cNvSpPr/>
          <p:nvPr/>
        </p:nvSpPr>
        <p:spPr>
          <a:xfrm>
            <a:off x="10460736" y="2560320"/>
            <a:ext cx="621792" cy="621792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0736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A7DD"/>
                </a:solidFill>
                <a:latin typeface="Segoe UI Black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310128"/>
            <a:ext cx="15179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047"/>
                </a:solidFill>
                <a:latin typeface="Segoe UI Semibold"/>
              </a:rP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4096512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0"/>
                </a:solidFill>
                <a:latin typeface="Segoe UI"/>
              </a:rPr>
              <a:t>Dashboard pemantauan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A98A0"/>
                </a:solidFill>
                <a:latin typeface="Segoe UI"/>
              </a:rPr>
              <a:t>Dengan kerangka ini, analisis selalu berangkat dari pertanyaan bisnis yang jelas dan berakhir pada dashboard yang siap dipantau, bukan sekadar kumpulan grafik.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MANAJEMEN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PELACAKAN PEKERJAAN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GITHUB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2C33"/>
                </a:solidFill>
                <a:latin typeface="Segoe UI"/>
              </a:rPr>
              <a:t>Seluruh pekerjaan kelompok dikelola lewat </a:t>
            </a:r>
            <a:r>
              <a:rPr sz="1400" b="1">
                <a:solidFill>
                  <a:srgbClr val="1EA7DD"/>
                </a:solidFill>
                <a:latin typeface="Segoe UI Semibold"/>
              </a:rPr>
              <a:t>board kanban GitHub Projects</a:t>
            </a:r>
            <a:r>
              <a:rPr sz="1400" b="0">
                <a:solidFill>
                  <a:srgbClr val="1E2C33"/>
                </a:solidFill>
                <a:latin typeface="Segoe UI"/>
              </a:rPr>
              <a:t>. Setiap fase CRISP-DM dari kedua studi kasus dipecah menjadi kartu tugas, lalu dilacak perpindahannya dari </a:t>
            </a:r>
            <a:r>
              <a:rPr sz="1400" b="1">
                <a:solidFill>
                  <a:srgbClr val="123047"/>
                </a:solidFill>
                <a:latin typeface="Segoe UI Semibold"/>
              </a:rPr>
              <a:t>Todo → In Progress → Done</a:t>
            </a:r>
            <a:r>
              <a:rPr sz="1400" b="0">
                <a:solidFill>
                  <a:srgbClr val="1E2C33"/>
                </a:solidFill>
                <a:latin typeface="Segoe UI"/>
              </a:rPr>
              <a:t>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22960" y="2468880"/>
            <a:ext cx="3456432" cy="155448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724912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3047"/>
                </a:solidFill>
                <a:latin typeface="Segoe UI Black"/>
              </a:rPr>
              <a:t>Transparansi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8A0"/>
                </a:solidFill>
                <a:latin typeface="Segoe UI"/>
              </a:rPr>
              <a:t>Status setiap pekerjaan terlihat dalam satu layar, sehingga tidak ada tugas yang terlewat.</a:t>
            </a:r>
          </a:p>
        </p:txBody>
      </p:sp>
      <p:sp>
        <p:nvSpPr>
          <p:cNvPr id="13" name="Snip Single Corner Rectangle 12"/>
          <p:cNvSpPr/>
          <p:nvPr/>
        </p:nvSpPr>
        <p:spPr>
          <a:xfrm>
            <a:off x="4453128" y="2468880"/>
            <a:ext cx="3456432" cy="155448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27448" y="2724912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3047"/>
                </a:solidFill>
                <a:latin typeface="Segoe UI Black"/>
              </a:rPr>
              <a:t>Akuntabilitas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27355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8A0"/>
                </a:solidFill>
                <a:latin typeface="Segoe UI"/>
              </a:rPr>
              <a:t>Tugas yang terpecah jelas memudahkan pembagian kerja antaranggota.</a:t>
            </a:r>
          </a:p>
        </p:txBody>
      </p:sp>
      <p:sp>
        <p:nvSpPr>
          <p:cNvPr id="17" name="Snip Single Corner Rectangle 16"/>
          <p:cNvSpPr/>
          <p:nvPr/>
        </p:nvSpPr>
        <p:spPr>
          <a:xfrm>
            <a:off x="8083296" y="2468880"/>
            <a:ext cx="3456432" cy="1554480"/>
          </a:xfrm>
          <a:prstGeom prst="snip1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6" y="2724912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23047"/>
                </a:solidFill>
                <a:latin typeface="Segoe UI Black"/>
              </a:rPr>
              <a:t>Keterlacakan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27355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8A0"/>
                </a:solidFill>
                <a:latin typeface="Segoe UI"/>
              </a:rPr>
              <a:t>Progres terukur (12 selesai, 2 berjalan, 2 antre) dan langsung terhubung ke repositori kode.</a:t>
            </a:r>
          </a:p>
        </p:txBody>
      </p:sp>
      <p:sp>
        <p:nvSpPr>
          <p:cNvPr id="21" name="Snip Single Corner Rectangle 20"/>
          <p:cNvSpPr/>
          <p:nvPr/>
        </p:nvSpPr>
        <p:spPr>
          <a:xfrm>
            <a:off x="822960" y="4343400"/>
            <a:ext cx="10543032" cy="1371600"/>
          </a:xfrm>
          <a:prstGeom prst="snip1Rect">
            <a:avLst>
              <a:gd name="adj" fmla="val 5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26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TAUTAN PROYEK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84632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EC2CC"/>
                </a:solidFill>
                <a:latin typeface="Segoe UI"/>
              </a:rPr>
              <a:t>Repository :  </a:t>
            </a:r>
            <a:r>
              <a:rPr sz="1350" b="1">
                <a:solidFill>
                  <a:srgbClr val="FFFFFF"/>
                </a:solidFill>
                <a:latin typeface="Segoe UI Semibold"/>
              </a:rPr>
              <a:t>github.com/sianida26/sti-final-project-kel5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23036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EC2CC"/>
                </a:solidFill>
                <a:latin typeface="Segoe UI"/>
              </a:rPr>
              <a:t>Board        :  </a:t>
            </a:r>
            <a:r>
              <a:rPr sz="1350" b="1">
                <a:solidFill>
                  <a:srgbClr val="FFFFFF"/>
                </a:solidFill>
                <a:latin typeface="Segoe UI Semibold"/>
              </a:rPr>
              <a:t>github.com/users/sianida26/projects/2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MANAJEMEN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BOARD KANBAN: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STATUS PEKERJAAN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06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777240" y="1371600"/>
            <a:ext cx="5027257" cy="4818888"/>
          </a:xfrm>
          <a:prstGeom prst="snip1Rect">
            <a:avLst>
              <a:gd name="adj" fmla="val 3000"/>
            </a:avLst>
          </a:prstGeom>
          <a:noFill/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26464"/>
            <a:ext cx="4917529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15179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RINGKASAN STATUS</a:t>
            </a:r>
          </a:p>
        </p:txBody>
      </p:sp>
      <p:sp>
        <p:nvSpPr>
          <p:cNvPr id="11" name="Snip Single Corner Rectangle 10"/>
          <p:cNvSpPr/>
          <p:nvPr/>
        </p:nvSpPr>
        <p:spPr>
          <a:xfrm>
            <a:off x="8503920" y="1938528"/>
            <a:ext cx="3154680" cy="841248"/>
          </a:xfrm>
          <a:prstGeom prst="snip1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2048256"/>
            <a:ext cx="91440" cy="62179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975104"/>
            <a:ext cx="1097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A7DD"/>
                </a:solidFill>
                <a:latin typeface="Segoe UI Black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975104"/>
            <a:ext cx="1645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047"/>
                </a:solidFill>
                <a:latin typeface="Segoe UI Semibold"/>
              </a:rPr>
              <a:t>Done</a:t>
            </a:r>
          </a:p>
        </p:txBody>
      </p:sp>
      <p:sp>
        <p:nvSpPr>
          <p:cNvPr id="15" name="Snip Single Corner Rectangle 14"/>
          <p:cNvSpPr/>
          <p:nvPr/>
        </p:nvSpPr>
        <p:spPr>
          <a:xfrm>
            <a:off x="8503920" y="2907792"/>
            <a:ext cx="3154680" cy="841248"/>
          </a:xfrm>
          <a:prstGeom prst="snip1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3017520"/>
            <a:ext cx="91440" cy="621792"/>
          </a:xfrm>
          <a:prstGeom prst="rect">
            <a:avLst/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944368"/>
            <a:ext cx="1097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3047"/>
                </a:solidFill>
                <a:latin typeface="Segoe UI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944368"/>
            <a:ext cx="1645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047"/>
                </a:solidFill>
                <a:latin typeface="Segoe UI Semibold"/>
              </a:rPr>
              <a:t>In Progress</a:t>
            </a:r>
          </a:p>
        </p:txBody>
      </p:sp>
      <p:sp>
        <p:nvSpPr>
          <p:cNvPr id="19" name="Snip Single Corner Rectangle 18"/>
          <p:cNvSpPr/>
          <p:nvPr/>
        </p:nvSpPr>
        <p:spPr>
          <a:xfrm>
            <a:off x="8503920" y="3877056"/>
            <a:ext cx="3154680" cy="841248"/>
          </a:xfrm>
          <a:prstGeom prst="snip1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3986784"/>
            <a:ext cx="91440" cy="621792"/>
          </a:xfrm>
          <a:prstGeom prst="rect">
            <a:avLst/>
          </a:prstGeom>
          <a:solidFill>
            <a:srgbClr val="8A9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3913632"/>
            <a:ext cx="1097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8A98A0"/>
                </a:solidFill>
                <a:latin typeface="Segoe UI Black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913632"/>
            <a:ext cx="1645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3047"/>
                </a:solidFill>
                <a:latin typeface="Segoe UI Semibold"/>
              </a:rPr>
              <a:t>Todo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56048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A7DD"/>
                </a:solidFill>
                <a:latin typeface="Segoe UI Semibold"/>
              </a:rPr>
              <a:t>16 kartu total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Tiap kartu mewakili satu fase CRISP-DM dari kedua studi kasus, ditambah setup, dokumentasi, dan pengumpulan.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MANAJEMEN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PEMETAAN TUGAS KE FASE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CRISP-DM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3657600" cy="640080"/>
          </a:xfrm>
          <a:prstGeom prst="rect">
            <a:avLst/>
          </a:prstGeom>
          <a:solidFill>
            <a:srgbClr val="123047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0020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Fase CRISP-DM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3520440" cy="640080"/>
          </a:xfrm>
          <a:prstGeom prst="rect">
            <a:avLst/>
          </a:prstGeom>
          <a:solidFill>
            <a:srgbClr val="123047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0020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Inventory CGS-1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600200"/>
            <a:ext cx="3456432" cy="640080"/>
          </a:xfrm>
          <a:prstGeom prst="rect">
            <a:avLst/>
          </a:prstGeom>
          <a:solidFill>
            <a:srgbClr val="123047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60020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Penjualan Ritel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240280"/>
            <a:ext cx="365760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24028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Business Understanding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352044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24028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Menyusun 3 pertanyaan bisnis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2240280"/>
            <a:ext cx="3456432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24028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Menyusun 4 pertanyaan bisnis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8036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88036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Data Understanding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880360"/>
            <a:ext cx="3520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88036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Memuat Excel, memeriksa data hilang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880360"/>
            <a:ext cx="345643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288036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Memuat data mingguan &amp; kamus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520440"/>
            <a:ext cx="365760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52044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Data Preparation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520440"/>
            <a:ext cx="352044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52044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Membersihkan, menandai kalibrasi/serial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520440"/>
            <a:ext cx="3456432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52044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Menurunkan KPI: AOV, MA, disc%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16052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16052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Modeling / Analisis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160520"/>
            <a:ext cx="3520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416052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Status, vendor, cakupan kalibrasi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4160520"/>
            <a:ext cx="345643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416052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Tren, musiman, AOV, diskon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800600"/>
            <a:ext cx="365760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480060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Evaluation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4800600"/>
            <a:ext cx="3520440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480060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Gap kalibrasi, watchlist aset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800600"/>
            <a:ext cx="3456432" cy="640080"/>
          </a:xfrm>
          <a:prstGeom prst="rect">
            <a:avLst/>
          </a:prstGeom>
          <a:solidFill>
            <a:srgbClr val="F3F7F9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480060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Pertumbuhan, over-discounting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44068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544068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7"/>
                </a:solidFill>
                <a:latin typeface="Segoe UI Semibold"/>
              </a:rPr>
              <a:t>Deployment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5440680"/>
            <a:ext cx="3520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45152" y="5440680"/>
            <a:ext cx="3246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Dashboard Looker Studio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5440680"/>
            <a:ext cx="345643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5592" y="5440680"/>
            <a:ext cx="318211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2C33"/>
                </a:solidFill>
                <a:latin typeface="Segoe UI"/>
              </a:rPr>
              <a:t>Dashboard Plotly interaktif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2240280"/>
            <a:ext cx="54864" cy="3840479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1 · INVENTORY CGS-1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KONTEKS &amp;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PERTANYAAN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A7DD"/>
                </a:solidFill>
                <a:latin typeface="Segoe UI Semibold"/>
              </a:rPr>
              <a:t>CGS-1 (Custody Gas Station)</a:t>
            </a:r>
            <a:r>
              <a:rPr sz="1400" b="0">
                <a:solidFill>
                  <a:srgbClr val="1E2C33"/>
                </a:solidFill>
                <a:latin typeface="Segoe UI"/>
              </a:rPr>
              <a:t> mengoperasikan banyak instrumen lapangan yang menjadi tumpuan keandalan, keselamatan, dan kepatuhan operasi. Datanya sudah tersedia, tetapi belum diolah dan kualitasnya belum pernah dievaluasi.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22960" y="2606040"/>
            <a:ext cx="914400" cy="914400"/>
          </a:xfrm>
          <a:prstGeom prst="snip1Rect">
            <a:avLst>
              <a:gd name="adj" fmla="val 20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A7DD"/>
                </a:solidFill>
                <a:latin typeface="Segoe UI Black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34056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3047"/>
                </a:solidFill>
                <a:latin typeface="Segoe UI Semibold"/>
              </a:rPr>
              <a:t>Komposisi &amp; status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A98A0"/>
                </a:solidFill>
                <a:latin typeface="Segoe UI"/>
              </a:rPr>
              <a:t>Bagaimana sebaran instrumen yang aktif dibanding yang tidak aktif?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22960" y="3666744"/>
            <a:ext cx="914400" cy="914400"/>
          </a:xfrm>
          <a:prstGeom prst="snip1Rect">
            <a:avLst>
              <a:gd name="adj" fmla="val 20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8503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A7DD"/>
                </a:solidFill>
                <a:latin typeface="Segoe UI Black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94759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3047"/>
                </a:solidFill>
                <a:latin typeface="Segoe UI Semibold"/>
              </a:rPr>
              <a:t>Jenis &amp; vendor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A98A0"/>
                </a:solidFill>
                <a:latin typeface="Segoe UI"/>
              </a:rPr>
              <a:t>Equipment class dan manufacturer apa yang paling dominan, dan seberapa besar ketergantungan vendornya?</a:t>
            </a:r>
          </a:p>
        </p:txBody>
      </p:sp>
      <p:sp>
        <p:nvSpPr>
          <p:cNvPr id="15" name="Snip Single Corner Rectangle 14"/>
          <p:cNvSpPr/>
          <p:nvPr/>
        </p:nvSpPr>
        <p:spPr>
          <a:xfrm>
            <a:off x="822960" y="4727448"/>
            <a:ext cx="914400" cy="914400"/>
          </a:xfrm>
          <a:prstGeom prst="snip1Rect">
            <a:avLst>
              <a:gd name="adj" fmla="val 20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45736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A7DD"/>
                </a:solidFill>
                <a:latin typeface="Segoe UI Black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55464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23047"/>
                </a:solidFill>
                <a:latin typeface="Segoe UI Semibold"/>
              </a:rPr>
              <a:t>Kelengkapan kalibrasi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A98A0"/>
                </a:solidFill>
                <a:latin typeface="Segoe UI"/>
              </a:rPr>
              <a:t>Instrumen mana yang belum memiliki data kalibrasi, sehingga berpotensi menimbulkan gap keselamatan dan kepatuhan?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1 · INVENTORY CGS-1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TEMUAN &amp;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REKOMENDASI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TEMUAN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5257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00">
                <a:solidFill>
                  <a:srgbClr val="1EA7DD"/>
                </a:solidFill>
                <a:latin typeface="Segoe UI"/>
              </a:rPr>
              <a:t>▪  </a:t>
            </a:r>
            <a:r>
              <a:rPr sz="1300">
                <a:solidFill>
                  <a:srgbClr val="1E2C33"/>
                </a:solidFill>
                <a:latin typeface="Segoe UI"/>
              </a:rPr>
              <a:t>Mayoritas instrumen berstatus Active (~94%), menandakan ketersediaan aset yang baik.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00">
                <a:solidFill>
                  <a:srgbClr val="1EA7DD"/>
                </a:solidFill>
                <a:latin typeface="Segoe UI"/>
              </a:rPr>
              <a:t>▪  </a:t>
            </a:r>
            <a:r>
              <a:rPr sz="1300">
                <a:solidFill>
                  <a:srgbClr val="1E2C33"/>
                </a:solidFill>
                <a:latin typeface="Segoe UI"/>
              </a:rPr>
              <a:t>Komposisi didominasi Actuator dan Pressure Transmitter, dengan vendor terpusat pada Rosemount dan Honeywell sehingga muncul ketergantungan vendor.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00">
                <a:solidFill>
                  <a:srgbClr val="1EA7DD"/>
                </a:solidFill>
                <a:latin typeface="Segoe UI"/>
              </a:rPr>
              <a:t>▪  </a:t>
            </a:r>
            <a:r>
              <a:rPr sz="1300">
                <a:solidFill>
                  <a:srgbClr val="1E2C33"/>
                </a:solidFill>
                <a:latin typeface="Segoe UI"/>
              </a:rPr>
              <a:t>Temuan terpenting: cukup banyak instrumen belum memiliki Calibrate Range tercatat, menyisakan gap data kalibrasi yang signifikan.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00">
                <a:solidFill>
                  <a:srgbClr val="1EA7DD"/>
                </a:solidFill>
                <a:latin typeface="Segoe UI"/>
              </a:rPr>
              <a:t>▪  </a:t>
            </a:r>
            <a:r>
              <a:rPr sz="1300">
                <a:solidFill>
                  <a:srgbClr val="1E2C33"/>
                </a:solidFill>
                <a:latin typeface="Segoe UI"/>
              </a:rPr>
              <a:t>Instrumen Active yang belum berkalibrasi masuk daftar prioritas karena berisiko terhadap kepatuhan dan keselamatan.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100">
                <a:solidFill>
                  <a:srgbClr val="1EA7DD"/>
                </a:solidFill>
                <a:latin typeface="Segoe UI"/>
              </a:rPr>
              <a:t>▪  </a:t>
            </a:r>
            <a:r>
              <a:rPr sz="1300">
                <a:solidFill>
                  <a:srgbClr val="1E2C33"/>
                </a:solidFill>
                <a:latin typeface="Segoe UI"/>
              </a:rPr>
              <a:t>Sebagian Serial Number masih kosong, menyulitkan keterlacakan aset dan klaim garansi.</a:t>
            </a:r>
          </a:p>
        </p:txBody>
      </p:sp>
      <p:sp>
        <p:nvSpPr>
          <p:cNvPr id="10" name="Snip Single Corner Rectangle 9"/>
          <p:cNvSpPr/>
          <p:nvPr/>
        </p:nvSpPr>
        <p:spPr>
          <a:xfrm>
            <a:off x="6400800" y="1417320"/>
            <a:ext cx="4965192" cy="4617720"/>
          </a:xfrm>
          <a:prstGeom prst="snip1Rect">
            <a:avLst>
              <a:gd name="adj" fmla="val 5000"/>
            </a:avLst>
          </a:prstGeom>
          <a:solidFill>
            <a:srgbClr val="F3F7F9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45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REKOMENDASI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48256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Lengkapi Calibrate Range dan Serial Number, dimulai dari instrumen prioritas yang aktif namun belum berkalibrasi.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Jadikan persentase cakupan kalibrasi sebagai KPI yang dipantau berkala di dashboard.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Standardkan pengisian data di sumbernya agar tidak ada field yang kosong.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4846320"/>
            <a:ext cx="4325112" cy="18288"/>
          </a:xfrm>
          <a:prstGeom prst="rect">
            <a:avLst/>
          </a:prstGeom>
          <a:solidFill>
            <a:srgbClr val="D9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98348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Keterbatasan:  </a:t>
            </a:r>
            <a:r>
              <a:rPr sz="1100" b="0">
                <a:solidFill>
                  <a:srgbClr val="8A98A0"/>
                </a:solidFill>
                <a:latin typeface="Segoe UI"/>
              </a:rPr>
              <a:t>data masih terbatas (18 instrumen, satu area, satu titik waktu), sehingga analisis bersifat deskriptif dan belum prediktif.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2 · PENJUALAN RITEL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KONTEKS &amp;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PERTANYAAN BISNIS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1790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A7DD"/>
                </a:solidFill>
                <a:latin typeface="Segoe UI Semibold"/>
              </a:rPr>
              <a:t>Sebuah retailer online B2C</a:t>
            </a:r>
            <a:r>
              <a:rPr sz="1400" b="0">
                <a:solidFill>
                  <a:srgbClr val="1E2C33"/>
                </a:solidFill>
                <a:latin typeface="Segoe UI"/>
              </a:rPr>
              <a:t> ingin memahami kinerja penjualannya selama kurang lebih 3,5 tahun (data agregat mingguan dan anonim) sebagai dasar keputusan stok, promo, dan target penjualan.</a:t>
            </a:r>
          </a:p>
        </p:txBody>
      </p:sp>
      <p:sp>
        <p:nvSpPr>
          <p:cNvPr id="9" name="Snip Single Corner Rectangle 8"/>
          <p:cNvSpPr/>
          <p:nvPr/>
        </p:nvSpPr>
        <p:spPr>
          <a:xfrm>
            <a:off x="822960" y="2560320"/>
            <a:ext cx="841248" cy="786384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84124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A7DD"/>
                </a:solidFill>
                <a:latin typeface="Segoe UI Black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33472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23047"/>
                </a:solidFill>
                <a:latin typeface="Segoe UI Semibold"/>
              </a:rPr>
              <a:t>Tren &amp; pertumbuhan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Bagaimana arah tren revenue, transaksi, dan jumlah pelanggan dari waktu ke waktu?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22960" y="3456432"/>
            <a:ext cx="841248" cy="786384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84124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A7DD"/>
                </a:solidFill>
                <a:latin typeface="Segoe UI Black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29584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23047"/>
                </a:solidFill>
                <a:latin typeface="Segoe UI Semibold"/>
              </a:rPr>
              <a:t>Pendorong revenue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Pertumbuhan lebih ditarik oleh volume transaksi atau nilai per transaksi (AOV)?</a:t>
            </a:r>
          </a:p>
        </p:txBody>
      </p:sp>
      <p:sp>
        <p:nvSpPr>
          <p:cNvPr id="15" name="Snip Single Corner Rectangle 14"/>
          <p:cNvSpPr/>
          <p:nvPr/>
        </p:nvSpPr>
        <p:spPr>
          <a:xfrm>
            <a:off x="822960" y="4352544"/>
            <a:ext cx="841248" cy="786384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70831"/>
            <a:ext cx="84124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A7DD"/>
                </a:solidFill>
                <a:latin typeface="Segoe UI Black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25696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23047"/>
                </a:solidFill>
                <a:latin typeface="Segoe UI Semibold"/>
              </a:rPr>
              <a:t>Pola musiman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Adakah bulan ramai dan sepi yang bisa dipakai merencanakan stok dan campaign?</a:t>
            </a:r>
          </a:p>
        </p:txBody>
      </p:sp>
      <p:sp>
        <p:nvSpPr>
          <p:cNvPr id="18" name="Snip Single Corner Rectangle 17"/>
          <p:cNvSpPr/>
          <p:nvPr/>
        </p:nvSpPr>
        <p:spPr>
          <a:xfrm>
            <a:off x="822960" y="5248656"/>
            <a:ext cx="841248" cy="786384"/>
          </a:xfrm>
          <a:prstGeom prst="snip1Rect">
            <a:avLst>
              <a:gd name="adj" fmla="val 22000"/>
            </a:avLst>
          </a:prstGeom>
          <a:solidFill>
            <a:srgbClr val="1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66944"/>
            <a:ext cx="84124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A7DD"/>
                </a:solidFill>
                <a:latin typeface="Segoe UI Black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21808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23047"/>
                </a:solidFill>
                <a:latin typeface="Segoe UI Semibold"/>
              </a:rPr>
              <a:t>Efektivitas diskon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98A0"/>
                </a:solidFill>
                <a:latin typeface="Segoe UI"/>
              </a:rPr>
              <a:t>Seberapa besar pengaruh strategi diskon terhadap revenue?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2 · PENJUALAN RITEL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DASHBOARD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INTERAKTIF (PLOTLY)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11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777240" y="1371600"/>
            <a:ext cx="4125290" cy="4818888"/>
          </a:xfrm>
          <a:prstGeom prst="snip1Rect">
            <a:avLst>
              <a:gd name="adj" fmla="val 3000"/>
            </a:avLst>
          </a:prstGeom>
          <a:noFill/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otly_dashboar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426464"/>
            <a:ext cx="401556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9146" y="1517904"/>
            <a:ext cx="60794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KOMPONEN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9146" y="1920240"/>
            <a:ext cx="6079413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Scorecard KPI: revenue, transaksi, AOV, dan rata-rata diskon.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Tren revenue mingguan beserta rata-rata 4 minggu (range slider dan dropdown tahun).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Revenue per tahun dan pola musiman per bulan.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AOV per tahun dan scatter diskon terhadap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9146" y="4983480"/>
            <a:ext cx="607941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Interaktif:  </a:t>
            </a:r>
            <a:r>
              <a:rPr sz="1150" b="0">
                <a:solidFill>
                  <a:srgbClr val="8A98A0"/>
                </a:solidFill>
                <a:latin typeface="Segoe UI"/>
              </a:rPr>
              <a:t>hover, zoom, dan filter per tahun, langsung di dalam notebook.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STUDI KASUS 2 · PENJUALAN RITEL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TEMUAN &amp; </a:t>
            </a:r>
            <a:r>
              <a:rPr sz="2600" b="1">
                <a:solidFill>
                  <a:srgbClr val="1EA7DD"/>
                </a:solidFill>
                <a:latin typeface="Segoe UI Black"/>
              </a:rPr>
              <a:t>REKOMENDASI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12</a:t>
            </a:r>
          </a:p>
        </p:txBody>
      </p:sp>
      <p:sp>
        <p:nvSpPr>
          <p:cNvPr id="8" name="Snip Single Corner Rectangle 7"/>
          <p:cNvSpPr/>
          <p:nvPr/>
        </p:nvSpPr>
        <p:spPr>
          <a:xfrm>
            <a:off x="822960" y="1463040"/>
            <a:ext cx="2542032" cy="1371600"/>
          </a:xfrm>
          <a:prstGeom prst="snip1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737360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047"/>
                </a:solidFill>
                <a:latin typeface="Segoe UI Black"/>
              </a:rPr>
              <a:t>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Pertumbuhan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2023 → 2025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3493008" y="1463040"/>
            <a:ext cx="2542032" cy="1371600"/>
          </a:xfrm>
          <a:prstGeom prst="snip1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21608" y="1737360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047"/>
                </a:solidFill>
                <a:latin typeface="Segoe UI Black"/>
              </a:rPr>
              <a:t>AOV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3591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Pendorong utama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(bukan volume)</a:t>
            </a:r>
          </a:p>
        </p:txBody>
      </p:sp>
      <p:sp>
        <p:nvSpPr>
          <p:cNvPr id="16" name="Snip Single Corner Rectangle 15"/>
          <p:cNvSpPr/>
          <p:nvPr/>
        </p:nvSpPr>
        <p:spPr>
          <a:xfrm>
            <a:off x="6163056" y="1463040"/>
            <a:ext cx="2542032" cy="1371600"/>
          </a:xfrm>
          <a:prstGeom prst="snip1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91656" y="1737360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047"/>
                </a:solidFill>
                <a:latin typeface="Segoe UI Black"/>
              </a:rPr>
              <a:t>~1,3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3591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Unit per transaksi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(keranjang kecil)</a:t>
            </a:r>
          </a:p>
        </p:txBody>
      </p:sp>
      <p:sp>
        <p:nvSpPr>
          <p:cNvPr id="20" name="Snip Single Corner Rectangle 19"/>
          <p:cNvSpPr/>
          <p:nvPr/>
        </p:nvSpPr>
        <p:spPr>
          <a:xfrm>
            <a:off x="8833104" y="1463040"/>
            <a:ext cx="2542032" cy="1371600"/>
          </a:xfrm>
          <a:prstGeom prst="snip1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737360"/>
            <a:ext cx="457200" cy="73152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4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23047"/>
                </a:solidFill>
                <a:latin typeface="Segoe UI Black"/>
              </a:rPr>
              <a:t>Jun–Jul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35915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Puncak musiman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0"/>
                </a:solidFill>
                <a:latin typeface="Segoe UI"/>
              </a:rPr>
              <a:t>(juga Januari)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1272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TEMUAN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11296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Revenue tahunan tumbuh sekitar 5 kali lipat dalam dua tahun (2023 → 2025).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Pendorong utamanya adalah kenaikan nilai per transaksi (AOV), bukan semata jumlah transaksi.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050">
                <a:solidFill>
                  <a:srgbClr val="1EA7DD"/>
                </a:solidFill>
                <a:latin typeface="Segoe UI"/>
              </a:rPr>
              <a:t>▪  </a:t>
            </a:r>
            <a:r>
              <a:rPr sz="1250">
                <a:solidFill>
                  <a:srgbClr val="1E2C33"/>
                </a:solidFill>
                <a:latin typeface="Segoe UI"/>
              </a:rPr>
              <a:t>Diskon belum efektif: rata-rata mencapai ~36%, tetapi korelasinya terhadap revenue mendekati nol, mengindikasikan over-discounting.</a:t>
            </a:r>
          </a:p>
        </p:txBody>
      </p:sp>
      <p:sp>
        <p:nvSpPr>
          <p:cNvPr id="26" name="Snip Single Corner Rectangle 25"/>
          <p:cNvSpPr/>
          <p:nvPr/>
        </p:nvSpPr>
        <p:spPr>
          <a:xfrm>
            <a:off x="6400800" y="3127248"/>
            <a:ext cx="4965192" cy="2907792"/>
          </a:xfrm>
          <a:prstGeom prst="snip1Rect">
            <a:avLst>
              <a:gd name="adj" fmla="val 6000"/>
            </a:avLst>
          </a:prstGeom>
          <a:solidFill>
            <a:srgbClr val="F3F7F9"/>
          </a:solidFill>
          <a:ln w="15875">
            <a:solidFill>
              <a:srgbClr val="D9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31012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A7DD"/>
                </a:solidFill>
                <a:latin typeface="Segoe UI Semibold"/>
              </a:rPr>
              <a:t>REKOMENDASI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712463"/>
            <a:ext cx="4389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>
                <a:solidFill>
                  <a:srgbClr val="1EA7DD"/>
                </a:solidFill>
                <a:latin typeface="Segoe UI"/>
              </a:rPr>
              <a:t>▪  </a:t>
            </a:r>
            <a:r>
              <a:rPr sz="1200">
                <a:solidFill>
                  <a:srgbClr val="1E2C33"/>
                </a:solidFill>
                <a:latin typeface="Segoe UI"/>
              </a:rPr>
              <a:t>Jaga momentum AOV lewat bundling dan upsell, mengingat keranjang masih sekitar 1,3 item.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>
                <a:solidFill>
                  <a:srgbClr val="1EA7DD"/>
                </a:solidFill>
                <a:latin typeface="Segoe UI"/>
              </a:rPr>
              <a:t>▪  </a:t>
            </a:r>
            <a:r>
              <a:rPr sz="1200">
                <a:solidFill>
                  <a:srgbClr val="1E2C33"/>
                </a:solidFill>
                <a:latin typeface="Segoe UI"/>
              </a:rPr>
              <a:t>Evaluasi strategi diskon dengan menguji pengurangan diskon dan mengukur dampaknya terhadap revenue.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>
                <a:solidFill>
                  <a:srgbClr val="1EA7DD"/>
                </a:solidFill>
                <a:latin typeface="Segoe UI"/>
              </a:rPr>
              <a:t>▪  </a:t>
            </a:r>
            <a:r>
              <a:rPr sz="1200">
                <a:solidFill>
                  <a:srgbClr val="1E2C33"/>
                </a:solidFill>
                <a:latin typeface="Segoe UI"/>
              </a:rPr>
              <a:t>Manfaatkan puncak musiman (Juni–Juli dan Januari) untuk perencanaan stok dan promo.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>
                <a:solidFill>
                  <a:srgbClr val="1EA7DD"/>
                </a:solidFill>
                <a:latin typeface="Segoe UI"/>
              </a:rPr>
              <a:t>▪  </a:t>
            </a:r>
            <a:r>
              <a:rPr sz="1200">
                <a:solidFill>
                  <a:srgbClr val="1E2C33"/>
                </a:solidFill>
                <a:latin typeface="Segoe UI"/>
              </a:rPr>
              <a:t>Dorong akuisisi dan retensi pelanggan karena jumlahnya cenderung stagnan.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146304" cy="603504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2062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3047"/>
                </a:solidFill>
                <a:latin typeface="Segoe UI Black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73368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8A0"/>
                </a:solidFill>
                <a:latin typeface="Segoe UI"/>
              </a:rPr>
              <a:t>final project sti · kelompok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A7DD"/>
                </a:solidFill>
                <a:latin typeface="Segoe UI Semibol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250">
                <a:solidFill>
                  <a:srgbClr val="1EA7DD"/>
                </a:solidFill>
                <a:latin typeface="Segoe UI"/>
              </a:rPr>
              <a:t>▪  </a:t>
            </a:r>
            <a:r>
              <a:rPr sz="1450">
                <a:solidFill>
                  <a:srgbClr val="1E2C33"/>
                </a:solidFill>
                <a:latin typeface="Segoe UI"/>
              </a:rPr>
              <a:t>Pendekatan CRISP-DM berhasil mengubah dua dataset mentah menjadi dashboard pemantauan yang menjawab pertanyaan bisnis nyata.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250">
                <a:solidFill>
                  <a:srgbClr val="1EA7DD"/>
                </a:solidFill>
                <a:latin typeface="Segoe UI"/>
              </a:rPr>
              <a:t>▪  </a:t>
            </a:r>
            <a:r>
              <a:rPr sz="1450">
                <a:solidFill>
                  <a:srgbClr val="1E2C33"/>
                </a:solidFill>
                <a:latin typeface="Segoe UI"/>
              </a:rPr>
              <a:t>Inventory CGS-1: ketersediaan aset tergolong baik (~94% aktif), tetapi gap data kalibrasi perlu segera ditindaklanjuti demi keselamatan dan kepatuhan.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250">
                <a:solidFill>
                  <a:srgbClr val="1EA7DD"/>
                </a:solidFill>
                <a:latin typeface="Segoe UI"/>
              </a:rPr>
              <a:t>▪  </a:t>
            </a:r>
            <a:r>
              <a:rPr sz="1450">
                <a:solidFill>
                  <a:srgbClr val="1E2C33"/>
                </a:solidFill>
                <a:latin typeface="Segoe UI"/>
              </a:rPr>
              <a:t>Penjualan ritel: pertumbuhan kuat (~5×) ditopang kenaikan AOV, sementara strategi diskon perlu dievaluasi karena terindikasi over-discounting.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250">
                <a:solidFill>
                  <a:srgbClr val="1EA7DD"/>
                </a:solidFill>
                <a:latin typeface="Segoe UI"/>
              </a:rPr>
              <a:t>▪  </a:t>
            </a:r>
            <a:r>
              <a:rPr sz="1450">
                <a:solidFill>
                  <a:srgbClr val="1E2C33"/>
                </a:solidFill>
                <a:latin typeface="Segoe UI"/>
              </a:rPr>
              <a:t>Manajemen proyek lewat GitHub Projects menjaga pekerjaan kelompok tetap transparan, terbagi rapi, dan terlacak (12 selesai, 2 berjalan, 2 antre).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250">
                <a:solidFill>
                  <a:srgbClr val="1EA7DD"/>
                </a:solidFill>
                <a:latin typeface="Segoe UI"/>
              </a:rPr>
              <a:t>▪  </a:t>
            </a:r>
            <a:r>
              <a:rPr sz="1450">
                <a:solidFill>
                  <a:srgbClr val="1E2C33"/>
                </a:solidFill>
                <a:latin typeface="Segoe UI"/>
              </a:rPr>
              <a:t>Langkah berikutnya: membersihkan outlier pada data penjualan dan menuntaskan dashboard Looker Studio untuk inventory.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8680" y="2697480"/>
            <a:ext cx="146304" cy="914400"/>
          </a:xfrm>
          <a:prstGeom prst="rect">
            <a:avLst/>
          </a:prstGeom>
          <a:solidFill>
            <a:srgbClr val="1EA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468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 Black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EC2CC"/>
                </a:solidFill>
                <a:latin typeface="Segoe UI Semibold"/>
              </a:rPr>
              <a:t>Final Project STI · Kelompok 5 · MMT 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C2EC"/>
                </a:solidFill>
                <a:latin typeface="Segoe UI"/>
              </a:rPr>
              <a:t>github.com/sianida26/sti-final-project-kel5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